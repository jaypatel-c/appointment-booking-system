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6" r:id="rId7"/>
    <p:sldId id="267" r:id="rId8"/>
    <p:sldId id="268" r:id="rId9"/>
    <p:sldId id="269" r:id="rId10"/>
    <p:sldId id="263" r:id="rId11"/>
    <p:sldId id="265" r:id="rId12"/>
    <p:sldId id="270" r:id="rId13"/>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81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12.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chemeClr val="accent3">
                <a:lumMod val="0"/>
                <a:lumOff val="100000"/>
              </a:schemeClr>
            </a:gs>
            <a:gs pos="48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 0"/>
          <p:cNvSpPr/>
          <p:nvPr/>
        </p:nvSpPr>
        <p:spPr>
          <a:xfrm>
            <a:off x="837724" y="3140393"/>
            <a:ext cx="12224623"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Arial" panose="020B0604020202020204" pitchFamily="34" charset="0"/>
                <a:ea typeface="Syne Bold" pitchFamily="34" charset="-122"/>
                <a:cs typeface="Arial" panose="020B0604020202020204" pitchFamily="34" charset="0"/>
              </a:rPr>
              <a:t>Patient Appointment Booking System</a:t>
            </a:r>
            <a:endParaRPr lang="en-US" sz="4400" dirty="0">
              <a:latin typeface="Arial" panose="020B0604020202020204" pitchFamily="34" charset="0"/>
              <a:cs typeface="Arial" panose="020B0604020202020204" pitchFamily="34" charset="0"/>
            </a:endParaRPr>
          </a:p>
        </p:txBody>
      </p:sp>
      <p:sp>
        <p:nvSpPr>
          <p:cNvPr id="3" name="Text 1"/>
          <p:cNvSpPr/>
          <p:nvPr/>
        </p:nvSpPr>
        <p:spPr>
          <a:xfrm>
            <a:off x="837724" y="4323159"/>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Streamlining healthcare access with a modern web application that connects patients with specialized doctors through intelligent, secure digital booking.</a:t>
            </a:r>
            <a:endParaRPr lang="en-US" sz="185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615EC2A-0FEF-3A82-511F-6CD7448CB29A}"/>
              </a:ext>
            </a:extLst>
          </p:cNvPr>
          <p:cNvPicPr>
            <a:picLocks noChangeAspect="1"/>
          </p:cNvPicPr>
          <p:nvPr/>
        </p:nvPicPr>
        <p:blipFill>
          <a:blip r:embed="rId3"/>
          <a:stretch>
            <a:fillRect/>
          </a:stretch>
        </p:blipFill>
        <p:spPr>
          <a:xfrm>
            <a:off x="12894198" y="7743920"/>
            <a:ext cx="1641832" cy="485680"/>
          </a:xfrm>
          <a:prstGeom prst="rect">
            <a:avLst/>
          </a:prstGeom>
        </p:spPr>
      </p:pic>
      <p:sp>
        <p:nvSpPr>
          <p:cNvPr id="5" name="TextBox 4">
            <a:extLst>
              <a:ext uri="{FF2B5EF4-FFF2-40B4-BE49-F238E27FC236}">
                <a16:creationId xmlns:a16="http://schemas.microsoft.com/office/drawing/2014/main" id="{5AEBDB0D-D6E7-B2BF-0261-B869482262A1}"/>
              </a:ext>
            </a:extLst>
          </p:cNvPr>
          <p:cNvSpPr txBox="1"/>
          <p:nvPr/>
        </p:nvSpPr>
        <p:spPr>
          <a:xfrm>
            <a:off x="11415212" y="7389977"/>
            <a:ext cx="3745851" cy="707886"/>
          </a:xfrm>
          <a:prstGeom prst="rect">
            <a:avLst/>
          </a:prstGeom>
          <a:noFill/>
        </p:spPr>
        <p:txBody>
          <a:bodyPr wrap="square" rtlCol="0">
            <a:spAutoFit/>
          </a:bodyPr>
          <a:lstStyle/>
          <a:p>
            <a:pPr algn="ctr"/>
            <a:r>
              <a:rPr lang="en-IN" sz="2000" dirty="0">
                <a:solidFill>
                  <a:schemeClr val="bg1"/>
                </a:solidFill>
              </a:rPr>
              <a:t>Prepared</a:t>
            </a:r>
            <a:r>
              <a:rPr lang="en-IN" sz="2000" dirty="0"/>
              <a:t> </a:t>
            </a:r>
            <a:r>
              <a:rPr lang="en-IN" sz="2000" dirty="0">
                <a:solidFill>
                  <a:schemeClr val="bg1"/>
                </a:solidFill>
              </a:rPr>
              <a:t>by</a:t>
            </a:r>
          </a:p>
          <a:p>
            <a:pPr algn="ctr"/>
            <a:r>
              <a:rPr lang="en-IN" sz="2000" dirty="0">
                <a:solidFill>
                  <a:schemeClr val="bg1"/>
                </a:solidFill>
              </a:rPr>
              <a:t>24CE081 – Jay Patel</a:t>
            </a:r>
          </a:p>
        </p:txBody>
      </p:sp>
      <p:pic>
        <p:nvPicPr>
          <p:cNvPr id="7" name="Picture 6">
            <a:extLst>
              <a:ext uri="{FF2B5EF4-FFF2-40B4-BE49-F238E27FC236}">
                <a16:creationId xmlns:a16="http://schemas.microsoft.com/office/drawing/2014/main" id="{1B897BC1-A471-CB9B-E5E3-0E95ABA8FFA1}"/>
              </a:ext>
            </a:extLst>
          </p:cNvPr>
          <p:cNvPicPr>
            <a:picLocks noChangeAspect="1"/>
          </p:cNvPicPr>
          <p:nvPr/>
        </p:nvPicPr>
        <p:blipFill>
          <a:blip r:embed="rId4"/>
          <a:stretch>
            <a:fillRect/>
          </a:stretch>
        </p:blipFill>
        <p:spPr>
          <a:xfrm>
            <a:off x="264725" y="431339"/>
            <a:ext cx="4652963" cy="816567"/>
          </a:xfrm>
          <a:prstGeom prst="rect">
            <a:avLst/>
          </a:prstGeom>
        </p:spPr>
      </p:pic>
      <p:pic>
        <p:nvPicPr>
          <p:cNvPr id="9" name="Picture 8">
            <a:extLst>
              <a:ext uri="{FF2B5EF4-FFF2-40B4-BE49-F238E27FC236}">
                <a16:creationId xmlns:a16="http://schemas.microsoft.com/office/drawing/2014/main" id="{404B1044-3EBF-074B-A0B7-7C9DD8556E57}"/>
              </a:ext>
            </a:extLst>
          </p:cNvPr>
          <p:cNvPicPr>
            <a:picLocks noChangeAspect="1"/>
          </p:cNvPicPr>
          <p:nvPr/>
        </p:nvPicPr>
        <p:blipFill>
          <a:blip r:embed="rId5"/>
          <a:stretch>
            <a:fillRect/>
          </a:stretch>
        </p:blipFill>
        <p:spPr>
          <a:xfrm>
            <a:off x="12894198" y="372897"/>
            <a:ext cx="933450" cy="933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517094"/>
            <a:ext cx="9322118"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Arial" panose="020B0604020202020204" pitchFamily="34" charset="0"/>
                <a:ea typeface="Syne Bold" pitchFamily="34" charset="-122"/>
                <a:cs typeface="Arial" panose="020B0604020202020204" pitchFamily="34" charset="0"/>
              </a:rPr>
              <a:t>Problem Statement &amp; Solution</a:t>
            </a:r>
            <a:endParaRPr lang="en-US" sz="4400" dirty="0">
              <a:latin typeface="Arial" panose="020B0604020202020204" pitchFamily="34" charset="0"/>
              <a:cs typeface="Arial" panose="020B0604020202020204" pitchFamily="34" charset="0"/>
            </a:endParaRPr>
          </a:p>
        </p:txBody>
      </p:sp>
      <p:sp>
        <p:nvSpPr>
          <p:cNvPr id="3" name="Text 1"/>
          <p:cNvSpPr/>
          <p:nvPr/>
        </p:nvSpPr>
        <p:spPr>
          <a:xfrm>
            <a:off x="837724" y="2819400"/>
            <a:ext cx="3379470" cy="422315"/>
          </a:xfrm>
          <a:prstGeom prst="rect">
            <a:avLst/>
          </a:prstGeom>
          <a:noFill/>
          <a:ln/>
        </p:spPr>
        <p:txBody>
          <a:bodyPr wrap="none" lIns="0" tIns="0" rIns="0" bIns="0" rtlCol="0" anchor="t"/>
          <a:lstStyle/>
          <a:p>
            <a:pPr marL="0" indent="0" algn="l">
              <a:lnSpc>
                <a:spcPts val="3300"/>
              </a:lnSpc>
              <a:buNone/>
            </a:pPr>
            <a:r>
              <a:rPr lang="en-US" sz="2650" b="1" dirty="0">
                <a:solidFill>
                  <a:srgbClr val="C91313"/>
                </a:solidFill>
                <a:latin typeface="Arial" panose="020B0604020202020204" pitchFamily="34" charset="0"/>
                <a:ea typeface="Syne Bold" pitchFamily="34" charset="-122"/>
                <a:cs typeface="Arial" panose="020B0604020202020204" pitchFamily="34" charset="0"/>
              </a:rPr>
              <a:t>The Challenge</a:t>
            </a:r>
            <a:endParaRPr lang="en-US" sz="2650" dirty="0">
              <a:latin typeface="Arial" panose="020B0604020202020204" pitchFamily="34" charset="0"/>
              <a:cs typeface="Arial" panose="020B0604020202020204" pitchFamily="34" charset="0"/>
            </a:endParaRPr>
          </a:p>
        </p:txBody>
      </p:sp>
      <p:sp>
        <p:nvSpPr>
          <p:cNvPr id="4" name="Text 2"/>
          <p:cNvSpPr/>
          <p:nvPr/>
        </p:nvSpPr>
        <p:spPr>
          <a:xfrm>
            <a:off x="837724" y="3481030"/>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Manual appointment booking creates significant friction in healthcare delivery:</a:t>
            </a:r>
            <a:endParaRPr lang="en-US" sz="1850" dirty="0">
              <a:latin typeface="Arial" panose="020B0604020202020204" pitchFamily="34" charset="0"/>
              <a:cs typeface="Arial" panose="020B0604020202020204" pitchFamily="34" charset="0"/>
            </a:endParaRPr>
          </a:p>
        </p:txBody>
      </p:sp>
      <p:sp>
        <p:nvSpPr>
          <p:cNvPr id="5" name="Text 3"/>
          <p:cNvSpPr/>
          <p:nvPr/>
        </p:nvSpPr>
        <p:spPr>
          <a:xfrm>
            <a:off x="837724" y="4462463"/>
            <a:ext cx="6185535" cy="2166223"/>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Time-consuming phone calls and paperwork for patients</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Prone to scheduling errors and double bookings</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No real-time visibility into doctor availability</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Difficult tracking of appointment status for both parties</a:t>
            </a:r>
            <a:endParaRPr lang="en-US" sz="1850" dirty="0">
              <a:latin typeface="Arial" panose="020B0604020202020204" pitchFamily="34" charset="0"/>
              <a:cs typeface="Arial" panose="020B0604020202020204" pitchFamily="34" charset="0"/>
            </a:endParaRPr>
          </a:p>
        </p:txBody>
      </p:sp>
      <p:sp>
        <p:nvSpPr>
          <p:cNvPr id="6" name="Text 4"/>
          <p:cNvSpPr/>
          <p:nvPr/>
        </p:nvSpPr>
        <p:spPr>
          <a:xfrm>
            <a:off x="7614761" y="2819400"/>
            <a:ext cx="3379470" cy="422315"/>
          </a:xfrm>
          <a:prstGeom prst="rect">
            <a:avLst/>
          </a:prstGeom>
          <a:noFill/>
          <a:ln/>
        </p:spPr>
        <p:txBody>
          <a:bodyPr wrap="none" lIns="0" tIns="0" rIns="0" bIns="0" rtlCol="0" anchor="t"/>
          <a:lstStyle/>
          <a:p>
            <a:pPr marL="0" indent="0" algn="l">
              <a:lnSpc>
                <a:spcPts val="3300"/>
              </a:lnSpc>
              <a:buNone/>
            </a:pPr>
            <a:r>
              <a:rPr lang="en-US" sz="2650" b="1" dirty="0">
                <a:solidFill>
                  <a:srgbClr val="C91313"/>
                </a:solidFill>
                <a:latin typeface="Arial" panose="020B0604020202020204" pitchFamily="34" charset="0"/>
                <a:ea typeface="Syne Bold" pitchFamily="34" charset="-122"/>
                <a:cs typeface="Arial" panose="020B0604020202020204" pitchFamily="34" charset="0"/>
              </a:rPr>
              <a:t>Our Solution</a:t>
            </a:r>
            <a:endParaRPr lang="en-US" sz="2650" dirty="0">
              <a:latin typeface="Arial" panose="020B0604020202020204" pitchFamily="34" charset="0"/>
              <a:cs typeface="Arial" panose="020B0604020202020204" pitchFamily="34" charset="0"/>
            </a:endParaRPr>
          </a:p>
        </p:txBody>
      </p:sp>
      <p:sp>
        <p:nvSpPr>
          <p:cNvPr id="7" name="Text 5"/>
          <p:cNvSpPr/>
          <p:nvPr/>
        </p:nvSpPr>
        <p:spPr>
          <a:xfrm>
            <a:off x="7614761" y="3481030"/>
            <a:ext cx="6185535"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A responsive, centralized digital platform bridging patients and specialized doctors:</a:t>
            </a:r>
            <a:endParaRPr lang="en-US" sz="1850" dirty="0">
              <a:latin typeface="Arial" panose="020B0604020202020204" pitchFamily="34" charset="0"/>
              <a:cs typeface="Arial" panose="020B0604020202020204" pitchFamily="34" charset="0"/>
            </a:endParaRPr>
          </a:p>
        </p:txBody>
      </p:sp>
      <p:sp>
        <p:nvSpPr>
          <p:cNvPr id="8" name="Text 6"/>
          <p:cNvSpPr/>
          <p:nvPr/>
        </p:nvSpPr>
        <p:spPr>
          <a:xfrm>
            <a:off x="7614761" y="4462463"/>
            <a:ext cx="6185535" cy="2166223"/>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Real-time availability tracking with instant validation</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Secure authentication for doctors and administrators</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Centralized dashboard for intelligent appointment management</a:t>
            </a:r>
            <a:endParaRPr lang="en-US" sz="1850" dirty="0">
              <a:latin typeface="Arial" panose="020B0604020202020204" pitchFamily="34" charset="0"/>
              <a:cs typeface="Arial" panose="020B0604020202020204" pitchFamily="34" charset="0"/>
            </a:endParaRPr>
          </a:p>
          <a:p>
            <a:pPr marL="342900" indent="-342900" algn="l">
              <a:lnSpc>
                <a:spcPts val="3000"/>
              </a:lnSpc>
              <a:buSzPct val="100000"/>
              <a:buChar char="•"/>
            </a:pPr>
            <a:r>
              <a:rPr lang="en-US" sz="1850" dirty="0">
                <a:solidFill>
                  <a:srgbClr val="D9E1FF"/>
                </a:solidFill>
                <a:latin typeface="Arial" panose="020B0604020202020204" pitchFamily="34" charset="0"/>
                <a:ea typeface="Arimo" pitchFamily="34" charset="-122"/>
                <a:cs typeface="Arial" panose="020B0604020202020204" pitchFamily="34" charset="0"/>
              </a:rPr>
              <a:t>Automated status updates and notifications</a:t>
            </a:r>
            <a:endParaRPr lang="en-US" sz="185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9DB9EEE-8109-EC76-B612-2456BCA05E41}"/>
              </a:ext>
            </a:extLst>
          </p:cNvPr>
          <p:cNvPicPr>
            <a:picLocks noChangeAspect="1"/>
          </p:cNvPicPr>
          <p:nvPr/>
        </p:nvPicPr>
        <p:blipFill>
          <a:blip r:embed="rId3"/>
          <a:stretch>
            <a:fillRect/>
          </a:stretch>
        </p:blipFill>
        <p:spPr>
          <a:xfrm>
            <a:off x="12894198" y="7743920"/>
            <a:ext cx="1641832" cy="485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600081"/>
            <a:ext cx="8559046"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Arial" panose="020B0604020202020204" pitchFamily="34" charset="0"/>
                <a:ea typeface="Syne Bold" pitchFamily="34" charset="-122"/>
                <a:cs typeface="Arial" panose="020B0604020202020204" pitchFamily="34" charset="0"/>
              </a:rPr>
              <a:t>Technology Stack Overview</a:t>
            </a:r>
            <a:endParaRPr lang="en-US" sz="4400" dirty="0">
              <a:latin typeface="Arial" panose="020B0604020202020204" pitchFamily="34" charset="0"/>
              <a:cs typeface="Arial" panose="020B0604020202020204" pitchFamily="34" charset="0"/>
            </a:endParaRPr>
          </a:p>
        </p:txBody>
      </p:sp>
      <p:sp>
        <p:nvSpPr>
          <p:cNvPr id="3" name="Shape 1"/>
          <p:cNvSpPr/>
          <p:nvPr/>
        </p:nvSpPr>
        <p:spPr>
          <a:xfrm>
            <a:off x="837724" y="2782848"/>
            <a:ext cx="4158734" cy="3846671"/>
          </a:xfrm>
          <a:prstGeom prst="roundRect">
            <a:avLst>
              <a:gd name="adj" fmla="val 933"/>
            </a:avLst>
          </a:prstGeom>
          <a:solidFill>
            <a:srgbClr val="2B2952"/>
          </a:solidFill>
          <a:ln/>
        </p:spPr>
      </p:sp>
      <p:sp>
        <p:nvSpPr>
          <p:cNvPr id="4" name="Shape 2"/>
          <p:cNvSpPr/>
          <p:nvPr/>
        </p:nvSpPr>
        <p:spPr>
          <a:xfrm>
            <a:off x="1077039" y="3022163"/>
            <a:ext cx="718066" cy="718066"/>
          </a:xfrm>
          <a:prstGeom prst="roundRect">
            <a:avLst>
              <a:gd name="adj" fmla="val 12732932"/>
            </a:avLst>
          </a:prstGeom>
          <a:solidFill>
            <a:srgbClr val="8061F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4445" y="3219569"/>
            <a:ext cx="323136" cy="323136"/>
          </a:xfrm>
          <a:prstGeom prst="rect">
            <a:avLst/>
          </a:prstGeom>
        </p:spPr>
      </p:pic>
      <p:sp>
        <p:nvSpPr>
          <p:cNvPr id="6" name="Text 3"/>
          <p:cNvSpPr/>
          <p:nvPr/>
        </p:nvSpPr>
        <p:spPr>
          <a:xfrm>
            <a:off x="1077039" y="3979545"/>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Frontend</a:t>
            </a:r>
            <a:endParaRPr lang="en-US" sz="2200" dirty="0">
              <a:latin typeface="Arial" panose="020B0604020202020204" pitchFamily="34" charset="0"/>
              <a:cs typeface="Arial" panose="020B0604020202020204" pitchFamily="34" charset="0"/>
            </a:endParaRPr>
          </a:p>
        </p:txBody>
      </p:sp>
      <p:sp>
        <p:nvSpPr>
          <p:cNvPr id="7" name="Text 4"/>
          <p:cNvSpPr/>
          <p:nvPr/>
        </p:nvSpPr>
        <p:spPr>
          <a:xfrm>
            <a:off x="1077039" y="4475083"/>
            <a:ext cx="3680103"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HTML, CSS, vanilla JavaScript with modern </a:t>
            </a:r>
            <a:r>
              <a:rPr lang="en-US" sz="1850" dirty="0" err="1">
                <a:solidFill>
                  <a:srgbClr val="D9E1FF"/>
                </a:solidFill>
                <a:latin typeface="Arial" panose="020B0604020202020204" pitchFamily="34" charset="0"/>
                <a:ea typeface="Arimo" pitchFamily="34" charset="-122"/>
                <a:cs typeface="Arial" panose="020B0604020202020204" pitchFamily="34" charset="0"/>
              </a:rPr>
              <a:t>Glassmorphism</a:t>
            </a:r>
            <a:r>
              <a:rPr lang="en-US" sz="1850" dirty="0">
                <a:solidFill>
                  <a:srgbClr val="D9E1FF"/>
                </a:solidFill>
                <a:latin typeface="Arial" panose="020B0604020202020204" pitchFamily="34" charset="0"/>
                <a:ea typeface="Arimo" pitchFamily="34" charset="-122"/>
                <a:cs typeface="Arial" panose="020B0604020202020204" pitchFamily="34" charset="0"/>
              </a:rPr>
              <a:t> design, responsive user interface.</a:t>
            </a:r>
            <a:endParaRPr lang="en-US" sz="1850" dirty="0">
              <a:latin typeface="Arial" panose="020B0604020202020204" pitchFamily="34" charset="0"/>
              <a:cs typeface="Arial" panose="020B0604020202020204" pitchFamily="34" charset="0"/>
            </a:endParaRPr>
          </a:p>
        </p:txBody>
      </p:sp>
      <p:sp>
        <p:nvSpPr>
          <p:cNvPr id="8" name="Shape 5"/>
          <p:cNvSpPr/>
          <p:nvPr/>
        </p:nvSpPr>
        <p:spPr>
          <a:xfrm>
            <a:off x="5235773" y="2782848"/>
            <a:ext cx="4158734" cy="3846671"/>
          </a:xfrm>
          <a:prstGeom prst="roundRect">
            <a:avLst>
              <a:gd name="adj" fmla="val 933"/>
            </a:avLst>
          </a:prstGeom>
          <a:solidFill>
            <a:srgbClr val="2B2952"/>
          </a:solidFill>
          <a:ln/>
        </p:spPr>
      </p:sp>
      <p:sp>
        <p:nvSpPr>
          <p:cNvPr id="9" name="Shape 6"/>
          <p:cNvSpPr/>
          <p:nvPr/>
        </p:nvSpPr>
        <p:spPr>
          <a:xfrm>
            <a:off x="5475089" y="3022163"/>
            <a:ext cx="718066" cy="718066"/>
          </a:xfrm>
          <a:prstGeom prst="roundRect">
            <a:avLst>
              <a:gd name="adj" fmla="val 12732932"/>
            </a:avLst>
          </a:prstGeom>
          <a:solidFill>
            <a:srgbClr val="8061FF"/>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72495" y="3219569"/>
            <a:ext cx="323136" cy="323136"/>
          </a:xfrm>
          <a:prstGeom prst="rect">
            <a:avLst/>
          </a:prstGeom>
        </p:spPr>
      </p:pic>
      <p:sp>
        <p:nvSpPr>
          <p:cNvPr id="11" name="Text 7"/>
          <p:cNvSpPr/>
          <p:nvPr/>
        </p:nvSpPr>
        <p:spPr>
          <a:xfrm>
            <a:off x="5475089" y="3979545"/>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Backend</a:t>
            </a:r>
            <a:endParaRPr lang="en-US" sz="2200" dirty="0">
              <a:latin typeface="Arial" panose="020B0604020202020204" pitchFamily="34" charset="0"/>
              <a:cs typeface="Arial" panose="020B0604020202020204" pitchFamily="34" charset="0"/>
            </a:endParaRPr>
          </a:p>
        </p:txBody>
      </p:sp>
      <p:sp>
        <p:nvSpPr>
          <p:cNvPr id="12" name="Text 8"/>
          <p:cNvSpPr/>
          <p:nvPr/>
        </p:nvSpPr>
        <p:spPr>
          <a:xfrm>
            <a:off x="5475089" y="4475083"/>
            <a:ext cx="3680103" cy="1915120"/>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Node.js with Express.js implementing RESTful API architecture for scalable, maintainable server-side operations.</a:t>
            </a:r>
            <a:endParaRPr lang="en-US" sz="1850" dirty="0">
              <a:latin typeface="Arial" panose="020B0604020202020204" pitchFamily="34" charset="0"/>
              <a:cs typeface="Arial" panose="020B0604020202020204" pitchFamily="34" charset="0"/>
            </a:endParaRPr>
          </a:p>
        </p:txBody>
      </p:sp>
      <p:sp>
        <p:nvSpPr>
          <p:cNvPr id="13" name="Shape 9"/>
          <p:cNvSpPr/>
          <p:nvPr/>
        </p:nvSpPr>
        <p:spPr>
          <a:xfrm>
            <a:off x="9633823" y="2782848"/>
            <a:ext cx="4158853" cy="3846671"/>
          </a:xfrm>
          <a:prstGeom prst="roundRect">
            <a:avLst>
              <a:gd name="adj" fmla="val 933"/>
            </a:avLst>
          </a:prstGeom>
          <a:solidFill>
            <a:srgbClr val="2B2952"/>
          </a:solidFill>
          <a:ln/>
        </p:spPr>
      </p:sp>
      <p:sp>
        <p:nvSpPr>
          <p:cNvPr id="14" name="Shape 10"/>
          <p:cNvSpPr/>
          <p:nvPr/>
        </p:nvSpPr>
        <p:spPr>
          <a:xfrm>
            <a:off x="9873139" y="3022163"/>
            <a:ext cx="718066" cy="718066"/>
          </a:xfrm>
          <a:prstGeom prst="roundRect">
            <a:avLst>
              <a:gd name="adj" fmla="val 12732932"/>
            </a:avLst>
          </a:prstGeom>
          <a:solidFill>
            <a:srgbClr val="8061F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70544" y="3219569"/>
            <a:ext cx="323136" cy="323136"/>
          </a:xfrm>
          <a:prstGeom prst="rect">
            <a:avLst/>
          </a:prstGeom>
        </p:spPr>
      </p:pic>
      <p:sp>
        <p:nvSpPr>
          <p:cNvPr id="16" name="Text 11"/>
          <p:cNvSpPr/>
          <p:nvPr/>
        </p:nvSpPr>
        <p:spPr>
          <a:xfrm>
            <a:off x="9873139" y="3979545"/>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Database</a:t>
            </a:r>
            <a:endParaRPr lang="en-US" sz="2200" dirty="0">
              <a:latin typeface="Arial" panose="020B0604020202020204" pitchFamily="34" charset="0"/>
              <a:cs typeface="Arial" panose="020B0604020202020204" pitchFamily="34" charset="0"/>
            </a:endParaRPr>
          </a:p>
        </p:txBody>
      </p:sp>
      <p:sp>
        <p:nvSpPr>
          <p:cNvPr id="17" name="Text 12"/>
          <p:cNvSpPr/>
          <p:nvPr/>
        </p:nvSpPr>
        <p:spPr>
          <a:xfrm>
            <a:off x="9873139" y="4475083"/>
            <a:ext cx="3680222"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MySQL relational database with connection pooling via mysql2 for efficient, secure data management at scale.</a:t>
            </a:r>
            <a:endParaRPr lang="en-US" sz="1850" dirty="0">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6C3B247F-9B53-EBF0-DC81-ED821F740C06}"/>
              </a:ext>
            </a:extLst>
          </p:cNvPr>
          <p:cNvPicPr>
            <a:picLocks noChangeAspect="1"/>
          </p:cNvPicPr>
          <p:nvPr/>
        </p:nvPicPr>
        <p:blipFill>
          <a:blip r:embed="rId6"/>
          <a:stretch>
            <a:fillRect/>
          </a:stretch>
        </p:blipFill>
        <p:spPr>
          <a:xfrm>
            <a:off x="12894198" y="7743920"/>
            <a:ext cx="1641832" cy="485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856780"/>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Arial" panose="020B0604020202020204" pitchFamily="34" charset="0"/>
                <a:ea typeface="Syne Bold" pitchFamily="34" charset="-122"/>
                <a:cs typeface="Arial" panose="020B0604020202020204" pitchFamily="34" charset="0"/>
              </a:rPr>
              <a:t>Core Features</a:t>
            </a:r>
            <a:endParaRPr lang="en-US" sz="4400" dirty="0">
              <a:latin typeface="Arial" panose="020B0604020202020204" pitchFamily="34" charset="0"/>
              <a:cs typeface="Arial" panose="020B0604020202020204" pitchFamily="34" charset="0"/>
            </a:endParaRPr>
          </a:p>
        </p:txBody>
      </p:sp>
      <p:sp>
        <p:nvSpPr>
          <p:cNvPr id="3" name="Shape 1"/>
          <p:cNvSpPr/>
          <p:nvPr/>
        </p:nvSpPr>
        <p:spPr>
          <a:xfrm>
            <a:off x="837724" y="3039547"/>
            <a:ext cx="4158734" cy="3333274"/>
          </a:xfrm>
          <a:prstGeom prst="roundRect">
            <a:avLst>
              <a:gd name="adj" fmla="val 4389"/>
            </a:avLst>
          </a:prstGeom>
          <a:solidFill>
            <a:srgbClr val="0C0A33"/>
          </a:solidFill>
          <a:ln w="30480">
            <a:solidFill>
              <a:srgbClr val="44426B"/>
            </a:solidFill>
            <a:prstDash val="solid"/>
          </a:ln>
        </p:spPr>
      </p:sp>
      <p:sp>
        <p:nvSpPr>
          <p:cNvPr id="4" name="Shape 2"/>
          <p:cNvSpPr/>
          <p:nvPr/>
        </p:nvSpPr>
        <p:spPr>
          <a:xfrm>
            <a:off x="807244" y="3039547"/>
            <a:ext cx="121920" cy="3333274"/>
          </a:xfrm>
          <a:prstGeom prst="roundRect">
            <a:avLst>
              <a:gd name="adj" fmla="val 29451"/>
            </a:avLst>
          </a:prstGeom>
          <a:solidFill>
            <a:srgbClr val="8061FF"/>
          </a:solidFill>
          <a:ln/>
        </p:spPr>
      </p:sp>
      <p:sp>
        <p:nvSpPr>
          <p:cNvPr id="5" name="Text 3"/>
          <p:cNvSpPr/>
          <p:nvPr/>
        </p:nvSpPr>
        <p:spPr>
          <a:xfrm>
            <a:off x="1198959" y="3309342"/>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Patient Portal</a:t>
            </a:r>
            <a:endParaRPr lang="en-US" sz="2200" dirty="0">
              <a:latin typeface="Arial" panose="020B0604020202020204" pitchFamily="34" charset="0"/>
              <a:cs typeface="Arial" panose="020B0604020202020204" pitchFamily="34" charset="0"/>
            </a:endParaRPr>
          </a:p>
        </p:txBody>
      </p:sp>
      <p:sp>
        <p:nvSpPr>
          <p:cNvPr id="6" name="Text 4"/>
          <p:cNvSpPr/>
          <p:nvPr/>
        </p:nvSpPr>
        <p:spPr>
          <a:xfrm>
            <a:off x="1198959" y="3804880"/>
            <a:ext cx="3527703" cy="2298144"/>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Browse available specialized doctors, select preferred dates and time slots, and submit booking requests with instant input validation for name and phone number fields.</a:t>
            </a:r>
            <a:endParaRPr lang="en-US" sz="1850" dirty="0">
              <a:latin typeface="Arial" panose="020B0604020202020204" pitchFamily="34" charset="0"/>
              <a:cs typeface="Arial" panose="020B0604020202020204" pitchFamily="34" charset="0"/>
            </a:endParaRPr>
          </a:p>
        </p:txBody>
      </p:sp>
      <p:sp>
        <p:nvSpPr>
          <p:cNvPr id="7" name="Shape 5"/>
          <p:cNvSpPr/>
          <p:nvPr/>
        </p:nvSpPr>
        <p:spPr>
          <a:xfrm>
            <a:off x="5235773" y="3039547"/>
            <a:ext cx="4158734" cy="3333274"/>
          </a:xfrm>
          <a:prstGeom prst="roundRect">
            <a:avLst>
              <a:gd name="adj" fmla="val 4389"/>
            </a:avLst>
          </a:prstGeom>
          <a:solidFill>
            <a:srgbClr val="0C0A33"/>
          </a:solidFill>
          <a:ln w="30480">
            <a:solidFill>
              <a:srgbClr val="44426B"/>
            </a:solidFill>
            <a:prstDash val="solid"/>
          </a:ln>
        </p:spPr>
      </p:sp>
      <p:sp>
        <p:nvSpPr>
          <p:cNvPr id="8" name="Shape 6"/>
          <p:cNvSpPr/>
          <p:nvPr/>
        </p:nvSpPr>
        <p:spPr>
          <a:xfrm>
            <a:off x="5205293" y="3039547"/>
            <a:ext cx="121920" cy="3333274"/>
          </a:xfrm>
          <a:prstGeom prst="roundRect">
            <a:avLst>
              <a:gd name="adj" fmla="val 29451"/>
            </a:avLst>
          </a:prstGeom>
          <a:solidFill>
            <a:srgbClr val="8061FF"/>
          </a:solidFill>
          <a:ln/>
        </p:spPr>
      </p:sp>
      <p:sp>
        <p:nvSpPr>
          <p:cNvPr id="9" name="Text 7"/>
          <p:cNvSpPr/>
          <p:nvPr/>
        </p:nvSpPr>
        <p:spPr>
          <a:xfrm>
            <a:off x="5597009" y="3309342"/>
            <a:ext cx="2878574"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Doctor Dashboard</a:t>
            </a:r>
            <a:endParaRPr lang="en-US" sz="2200" dirty="0">
              <a:latin typeface="Arial" panose="020B0604020202020204" pitchFamily="34" charset="0"/>
              <a:cs typeface="Arial" panose="020B0604020202020204" pitchFamily="34" charset="0"/>
            </a:endParaRPr>
          </a:p>
        </p:txBody>
      </p:sp>
      <p:sp>
        <p:nvSpPr>
          <p:cNvPr id="10" name="Text 8"/>
          <p:cNvSpPr/>
          <p:nvPr/>
        </p:nvSpPr>
        <p:spPr>
          <a:xfrm>
            <a:off x="5597009" y="3804880"/>
            <a:ext cx="3527703" cy="2298144"/>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Secure login authentication provides access to requested appointments, filtering by doctor ID, and intelligent status management with real-time updates.</a:t>
            </a:r>
            <a:endParaRPr lang="en-US" sz="1850" dirty="0">
              <a:latin typeface="Arial" panose="020B0604020202020204" pitchFamily="34" charset="0"/>
              <a:cs typeface="Arial" panose="020B0604020202020204" pitchFamily="34" charset="0"/>
            </a:endParaRPr>
          </a:p>
        </p:txBody>
      </p:sp>
      <p:sp>
        <p:nvSpPr>
          <p:cNvPr id="11" name="Shape 9"/>
          <p:cNvSpPr/>
          <p:nvPr/>
        </p:nvSpPr>
        <p:spPr>
          <a:xfrm>
            <a:off x="9633823" y="3039547"/>
            <a:ext cx="4158853" cy="3333274"/>
          </a:xfrm>
          <a:prstGeom prst="roundRect">
            <a:avLst>
              <a:gd name="adj" fmla="val 4389"/>
            </a:avLst>
          </a:prstGeom>
          <a:solidFill>
            <a:srgbClr val="0C0A33"/>
          </a:solidFill>
          <a:ln w="30480">
            <a:solidFill>
              <a:srgbClr val="44426B"/>
            </a:solidFill>
            <a:prstDash val="solid"/>
          </a:ln>
        </p:spPr>
      </p:sp>
      <p:sp>
        <p:nvSpPr>
          <p:cNvPr id="12" name="Shape 10"/>
          <p:cNvSpPr/>
          <p:nvPr/>
        </p:nvSpPr>
        <p:spPr>
          <a:xfrm>
            <a:off x="9603343" y="3039547"/>
            <a:ext cx="121920" cy="3333274"/>
          </a:xfrm>
          <a:prstGeom prst="roundRect">
            <a:avLst>
              <a:gd name="adj" fmla="val 29451"/>
            </a:avLst>
          </a:prstGeom>
          <a:solidFill>
            <a:srgbClr val="8061FF"/>
          </a:solidFill>
          <a:ln/>
        </p:spPr>
      </p:sp>
      <p:sp>
        <p:nvSpPr>
          <p:cNvPr id="13" name="Text 11"/>
          <p:cNvSpPr/>
          <p:nvPr/>
        </p:nvSpPr>
        <p:spPr>
          <a:xfrm>
            <a:off x="9995059" y="3309342"/>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Admin Panel</a:t>
            </a:r>
            <a:endParaRPr lang="en-US" sz="2200" dirty="0">
              <a:latin typeface="Arial" panose="020B0604020202020204" pitchFamily="34" charset="0"/>
              <a:cs typeface="Arial" panose="020B0604020202020204" pitchFamily="34" charset="0"/>
            </a:endParaRPr>
          </a:p>
        </p:txBody>
      </p:sp>
      <p:sp>
        <p:nvSpPr>
          <p:cNvPr id="14" name="Text 12"/>
          <p:cNvSpPr/>
          <p:nvPr/>
        </p:nvSpPr>
        <p:spPr>
          <a:xfrm>
            <a:off x="9995059" y="3804880"/>
            <a:ext cx="3527822"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Comprehensive oversight of all appointments across the system, user management, and analytics for healthcare administrators.</a:t>
            </a:r>
            <a:endParaRPr lang="en-US" sz="185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02C8C362-7D74-7AC9-8377-CD8FE4641BB0}"/>
              </a:ext>
            </a:extLst>
          </p:cNvPr>
          <p:cNvPicPr>
            <a:picLocks noChangeAspect="1"/>
          </p:cNvPicPr>
          <p:nvPr/>
        </p:nvPicPr>
        <p:blipFill>
          <a:blip r:embed="rId3"/>
          <a:stretch>
            <a:fillRect/>
          </a:stretch>
        </p:blipFill>
        <p:spPr>
          <a:xfrm>
            <a:off x="12894198" y="7743920"/>
            <a:ext cx="1641832" cy="485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7120" y="1407200"/>
            <a:ext cx="11238667" cy="593050"/>
          </a:xfrm>
          <a:prstGeom prst="rect">
            <a:avLst/>
          </a:prstGeom>
          <a:noFill/>
          <a:ln/>
        </p:spPr>
        <p:txBody>
          <a:bodyPr wrap="none" lIns="0" tIns="0" rIns="0" bIns="0" rtlCol="0" anchor="t"/>
          <a:lstStyle/>
          <a:p>
            <a:pPr marL="0" indent="0" algn="l">
              <a:lnSpc>
                <a:spcPts val="4650"/>
              </a:lnSpc>
              <a:buNone/>
            </a:pPr>
            <a:r>
              <a:rPr lang="en-US" sz="3700" b="1" dirty="0">
                <a:solidFill>
                  <a:srgbClr val="FFFFFF"/>
                </a:solidFill>
                <a:latin typeface="Arial" panose="020B0604020202020204" pitchFamily="34" charset="0"/>
                <a:ea typeface="Syne Bold" pitchFamily="34" charset="-122"/>
                <a:cs typeface="Arial" panose="020B0604020202020204" pitchFamily="34" charset="0"/>
              </a:rPr>
              <a:t>Database Architecture: A Relational Design</a:t>
            </a:r>
            <a:endParaRPr lang="en-US" sz="3700" dirty="0">
              <a:latin typeface="Arial" panose="020B0604020202020204" pitchFamily="34" charset="0"/>
              <a:cs typeface="Arial" panose="020B0604020202020204" pitchFamily="34" charset="0"/>
            </a:endParaRPr>
          </a:p>
        </p:txBody>
      </p:sp>
      <p:sp>
        <p:nvSpPr>
          <p:cNvPr id="3" name="Text 1"/>
          <p:cNvSpPr/>
          <p:nvPr/>
        </p:nvSpPr>
        <p:spPr>
          <a:xfrm>
            <a:off x="767120" y="2339935"/>
            <a:ext cx="13096161" cy="297180"/>
          </a:xfrm>
          <a:prstGeom prst="rect">
            <a:avLst/>
          </a:prstGeom>
          <a:noFill/>
          <a:ln/>
        </p:spPr>
        <p:txBody>
          <a:bodyPr wrap="none" lIns="0" tIns="0" rIns="0" bIns="0" rtlCol="0" anchor="t"/>
          <a:lstStyle/>
          <a:p>
            <a:pPr marL="0" indent="0" algn="l">
              <a:lnSpc>
                <a:spcPts val="2300"/>
              </a:lnSpc>
              <a:buNone/>
            </a:pPr>
            <a:r>
              <a:rPr lang="en-US" sz="1550" dirty="0">
                <a:solidFill>
                  <a:srgbClr val="D9E1FF"/>
                </a:solidFill>
                <a:latin typeface="Arial" panose="020B0604020202020204" pitchFamily="34" charset="0"/>
                <a:ea typeface="Arimo" pitchFamily="34" charset="-122"/>
                <a:cs typeface="Arial" panose="020B0604020202020204" pitchFamily="34" charset="0"/>
              </a:rPr>
              <a:t>Our highly optimized MySQL database structure uses relational modeling to ensure data integrity, efficient queries, and scalable growth.</a:t>
            </a:r>
            <a:endParaRPr lang="en-US" sz="1550" dirty="0">
              <a:latin typeface="Arial" panose="020B0604020202020204" pitchFamily="34" charset="0"/>
              <a:cs typeface="Arial" panose="020B0604020202020204" pitchFamily="34" charset="0"/>
            </a:endParaRPr>
          </a:p>
        </p:txBody>
      </p:sp>
      <p:sp>
        <p:nvSpPr>
          <p:cNvPr id="4" name="Shape 2"/>
          <p:cNvSpPr/>
          <p:nvPr/>
        </p:nvSpPr>
        <p:spPr>
          <a:xfrm>
            <a:off x="767120" y="2828211"/>
            <a:ext cx="6463189" cy="3994071"/>
          </a:xfrm>
          <a:prstGeom prst="roundRect">
            <a:avLst>
              <a:gd name="adj" fmla="val 757"/>
            </a:avLst>
          </a:prstGeom>
          <a:solidFill>
            <a:srgbClr val="2B2952"/>
          </a:solidFill>
          <a:ln/>
        </p:spPr>
      </p:sp>
      <p:sp>
        <p:nvSpPr>
          <p:cNvPr id="5" name="Text 3"/>
          <p:cNvSpPr/>
          <p:nvPr/>
        </p:nvSpPr>
        <p:spPr>
          <a:xfrm>
            <a:off x="968693" y="3029783"/>
            <a:ext cx="2372439" cy="296585"/>
          </a:xfrm>
          <a:prstGeom prst="rect">
            <a:avLst/>
          </a:prstGeom>
          <a:noFill/>
          <a:ln/>
        </p:spPr>
        <p:txBody>
          <a:bodyPr wrap="none" lIns="0" tIns="0" rIns="0" bIns="0" rtlCol="0" anchor="t"/>
          <a:lstStyle/>
          <a:p>
            <a:pPr marL="0" indent="0" algn="l">
              <a:lnSpc>
                <a:spcPts val="2300"/>
              </a:lnSpc>
              <a:buNone/>
            </a:pPr>
            <a:r>
              <a:rPr lang="en-US" sz="1850" b="1" dirty="0">
                <a:solidFill>
                  <a:srgbClr val="D9E1FF"/>
                </a:solidFill>
                <a:latin typeface="Arial" panose="020B0604020202020204" pitchFamily="34" charset="0"/>
                <a:ea typeface="Syne Bold" pitchFamily="34" charset="-122"/>
                <a:cs typeface="Arial" panose="020B0604020202020204" pitchFamily="34" charset="0"/>
              </a:rPr>
              <a:t>doctors Table</a:t>
            </a:r>
            <a:endParaRPr lang="en-US" sz="1850" dirty="0">
              <a:latin typeface="Arial" panose="020B0604020202020204" pitchFamily="34" charset="0"/>
              <a:cs typeface="Arial" panose="020B0604020202020204" pitchFamily="34" charset="0"/>
            </a:endParaRPr>
          </a:p>
        </p:txBody>
      </p:sp>
      <p:sp>
        <p:nvSpPr>
          <p:cNvPr id="6" name="Text 4"/>
          <p:cNvSpPr/>
          <p:nvPr/>
        </p:nvSpPr>
        <p:spPr>
          <a:xfrm>
            <a:off x="968693" y="3428286"/>
            <a:ext cx="6060043" cy="297180"/>
          </a:xfrm>
          <a:prstGeom prst="rect">
            <a:avLst/>
          </a:prstGeom>
          <a:noFill/>
          <a:ln/>
        </p:spPr>
        <p:txBody>
          <a:bodyPr wrap="none" lIns="0" tIns="0" rIns="0" bIns="0" rtlCol="0" anchor="t"/>
          <a:lstStyle/>
          <a:p>
            <a:pPr marL="0" indent="0" algn="l">
              <a:lnSpc>
                <a:spcPts val="2300"/>
              </a:lnSpc>
              <a:buNone/>
            </a:pPr>
            <a:r>
              <a:rPr lang="en-US" sz="1550" dirty="0">
                <a:solidFill>
                  <a:srgbClr val="D9E1FF"/>
                </a:solidFill>
                <a:latin typeface="Arial" panose="020B0604020202020204" pitchFamily="34" charset="0"/>
                <a:ea typeface="Arimo" pitchFamily="34" charset="-122"/>
                <a:cs typeface="Arial" panose="020B0604020202020204" pitchFamily="34" charset="0"/>
              </a:rPr>
              <a:t>Manages doctor profiles and secure authentication</a:t>
            </a:r>
            <a:endParaRPr lang="en-US" sz="1550" dirty="0">
              <a:latin typeface="Arial" panose="020B0604020202020204" pitchFamily="34" charset="0"/>
              <a:cs typeface="Arial" panose="020B0604020202020204" pitchFamily="34" charset="0"/>
            </a:endParaRPr>
          </a:p>
        </p:txBody>
      </p:sp>
      <p:sp>
        <p:nvSpPr>
          <p:cNvPr id="7" name="Text 5"/>
          <p:cNvSpPr/>
          <p:nvPr/>
        </p:nvSpPr>
        <p:spPr>
          <a:xfrm>
            <a:off x="968693" y="3827383"/>
            <a:ext cx="6060043" cy="1723549"/>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id (Primary Key)</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name</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specialization</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username</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password (hashed)</a:t>
            </a:r>
            <a:endParaRPr lang="en-US" sz="1550" dirty="0">
              <a:latin typeface="Arial" panose="020B0604020202020204" pitchFamily="34" charset="0"/>
              <a:cs typeface="Arial" panose="020B0604020202020204" pitchFamily="34" charset="0"/>
            </a:endParaRPr>
          </a:p>
        </p:txBody>
      </p:sp>
      <p:sp>
        <p:nvSpPr>
          <p:cNvPr id="8" name="Shape 6"/>
          <p:cNvSpPr/>
          <p:nvPr/>
        </p:nvSpPr>
        <p:spPr>
          <a:xfrm>
            <a:off x="7400092" y="2828211"/>
            <a:ext cx="6463189" cy="3994071"/>
          </a:xfrm>
          <a:prstGeom prst="roundRect">
            <a:avLst>
              <a:gd name="adj" fmla="val 757"/>
            </a:avLst>
          </a:prstGeom>
          <a:solidFill>
            <a:srgbClr val="2B2952"/>
          </a:solidFill>
          <a:ln/>
        </p:spPr>
      </p:sp>
      <p:sp>
        <p:nvSpPr>
          <p:cNvPr id="9" name="Text 7"/>
          <p:cNvSpPr/>
          <p:nvPr/>
        </p:nvSpPr>
        <p:spPr>
          <a:xfrm>
            <a:off x="7601664" y="3029783"/>
            <a:ext cx="2612231" cy="296585"/>
          </a:xfrm>
          <a:prstGeom prst="rect">
            <a:avLst/>
          </a:prstGeom>
          <a:noFill/>
          <a:ln/>
        </p:spPr>
        <p:txBody>
          <a:bodyPr wrap="none" lIns="0" tIns="0" rIns="0" bIns="0" rtlCol="0" anchor="t"/>
          <a:lstStyle/>
          <a:p>
            <a:pPr marL="0" indent="0" algn="l">
              <a:lnSpc>
                <a:spcPts val="2300"/>
              </a:lnSpc>
              <a:buNone/>
            </a:pPr>
            <a:r>
              <a:rPr lang="en-US" sz="1850" b="1" dirty="0">
                <a:solidFill>
                  <a:srgbClr val="D9E1FF"/>
                </a:solidFill>
                <a:latin typeface="Arial" panose="020B0604020202020204" pitchFamily="34" charset="0"/>
                <a:ea typeface="Syne Bold" pitchFamily="34" charset="-122"/>
                <a:cs typeface="Arial" panose="020B0604020202020204" pitchFamily="34" charset="0"/>
              </a:rPr>
              <a:t>appointments Table</a:t>
            </a:r>
            <a:endParaRPr lang="en-US" sz="1850" dirty="0">
              <a:latin typeface="Arial" panose="020B0604020202020204" pitchFamily="34" charset="0"/>
              <a:cs typeface="Arial" panose="020B0604020202020204" pitchFamily="34" charset="0"/>
            </a:endParaRPr>
          </a:p>
        </p:txBody>
      </p:sp>
      <p:sp>
        <p:nvSpPr>
          <p:cNvPr id="10" name="Text 8"/>
          <p:cNvSpPr/>
          <p:nvPr/>
        </p:nvSpPr>
        <p:spPr>
          <a:xfrm>
            <a:off x="7601664" y="3428286"/>
            <a:ext cx="6060043" cy="297180"/>
          </a:xfrm>
          <a:prstGeom prst="rect">
            <a:avLst/>
          </a:prstGeom>
          <a:noFill/>
          <a:ln/>
        </p:spPr>
        <p:txBody>
          <a:bodyPr wrap="none" lIns="0" tIns="0" rIns="0" bIns="0" rtlCol="0" anchor="t"/>
          <a:lstStyle/>
          <a:p>
            <a:pPr marL="0" indent="0" algn="l">
              <a:lnSpc>
                <a:spcPts val="2300"/>
              </a:lnSpc>
              <a:buNone/>
            </a:pPr>
            <a:r>
              <a:rPr lang="en-US" sz="1550" dirty="0">
                <a:solidFill>
                  <a:srgbClr val="D9E1FF"/>
                </a:solidFill>
                <a:latin typeface="Arial" panose="020B0604020202020204" pitchFamily="34" charset="0"/>
                <a:ea typeface="Arimo" pitchFamily="34" charset="-122"/>
                <a:cs typeface="Arial" panose="020B0604020202020204" pitchFamily="34" charset="0"/>
              </a:rPr>
              <a:t>Central repository for all booking data with foreign key relationships</a:t>
            </a:r>
            <a:endParaRPr lang="en-US" sz="1550" dirty="0">
              <a:latin typeface="Arial" panose="020B0604020202020204" pitchFamily="34" charset="0"/>
              <a:cs typeface="Arial" panose="020B0604020202020204" pitchFamily="34" charset="0"/>
            </a:endParaRPr>
          </a:p>
        </p:txBody>
      </p:sp>
      <p:sp>
        <p:nvSpPr>
          <p:cNvPr id="11" name="Text 9"/>
          <p:cNvSpPr/>
          <p:nvPr/>
        </p:nvSpPr>
        <p:spPr>
          <a:xfrm>
            <a:off x="7601664" y="3827383"/>
            <a:ext cx="6060043" cy="2793325"/>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id (Primary Key)</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patient_name</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patient_phone</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doctor_id (Foreign Key)</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appointment_date</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time_slot</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status</a:t>
            </a:r>
            <a:endParaRPr lang="en-US" sz="1550" dirty="0">
              <a:latin typeface="Arial" panose="020B0604020202020204" pitchFamily="34" charset="0"/>
              <a:cs typeface="Arial" panose="020B0604020202020204" pitchFamily="34" charset="0"/>
            </a:endParaRPr>
          </a:p>
          <a:p>
            <a:pPr marL="342900" indent="-342900" algn="l">
              <a:lnSpc>
                <a:spcPts val="2300"/>
              </a:lnSpc>
              <a:buSzPct val="100000"/>
              <a:buChar char="•"/>
            </a:pPr>
            <a:r>
              <a:rPr lang="en-US" sz="1550" dirty="0">
                <a:solidFill>
                  <a:srgbClr val="D9E1FF"/>
                </a:solidFill>
                <a:latin typeface="Arial" panose="020B0604020202020204" pitchFamily="34" charset="0"/>
                <a:ea typeface="Arimo" pitchFamily="34" charset="-122"/>
                <a:cs typeface="Arial" panose="020B0604020202020204" pitchFamily="34" charset="0"/>
              </a:rPr>
              <a:t>created_at</a:t>
            </a:r>
            <a:endParaRPr lang="en-US" sz="155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1D3153AC-C9F9-EC4B-7448-632815947299}"/>
              </a:ext>
            </a:extLst>
          </p:cNvPr>
          <p:cNvPicPr>
            <a:picLocks noChangeAspect="1"/>
          </p:cNvPicPr>
          <p:nvPr/>
        </p:nvPicPr>
        <p:blipFill>
          <a:blip r:embed="rId3"/>
          <a:stretch>
            <a:fillRect/>
          </a:stretch>
        </p:blipFill>
        <p:spPr>
          <a:xfrm>
            <a:off x="12894198" y="7743920"/>
            <a:ext cx="1641832" cy="485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D8861C-BF59-41AE-29BD-5018E3CF0CC4}"/>
              </a:ext>
            </a:extLst>
          </p:cNvPr>
          <p:cNvSpPr txBox="1"/>
          <p:nvPr/>
        </p:nvSpPr>
        <p:spPr>
          <a:xfrm>
            <a:off x="546409" y="790835"/>
            <a:ext cx="13655727" cy="4401205"/>
          </a:xfrm>
          <a:prstGeom prst="rect">
            <a:avLst/>
          </a:prstGeom>
          <a:noFill/>
        </p:spPr>
        <p:txBody>
          <a:bodyPr wrap="square">
            <a:spAutoFit/>
          </a:bodyPr>
          <a:lstStyle/>
          <a:p>
            <a:pPr>
              <a:buNone/>
            </a:pPr>
            <a:r>
              <a:rPr lang="en-US" sz="3200" b="1" dirty="0">
                <a:solidFill>
                  <a:schemeClr val="bg1"/>
                </a:solidFill>
              </a:rPr>
              <a:t>        </a:t>
            </a:r>
            <a:r>
              <a:rPr lang="en-US" sz="4400" b="1" dirty="0">
                <a:solidFill>
                  <a:schemeClr val="bg1"/>
                </a:solidFill>
              </a:rPr>
              <a:t>What is a Foreign Key?</a:t>
            </a:r>
          </a:p>
          <a:p>
            <a:pPr>
              <a:buNone/>
            </a:pPr>
            <a:endParaRPr lang="en-US" sz="1200" b="1" dirty="0">
              <a:solidFill>
                <a:schemeClr val="bg1"/>
              </a:solidFill>
            </a:endParaRPr>
          </a:p>
          <a:p>
            <a:pPr>
              <a:buNone/>
            </a:pPr>
            <a:r>
              <a:rPr lang="en-US" dirty="0">
                <a:solidFill>
                  <a:schemeClr val="bg1"/>
                </a:solidFill>
              </a:rPr>
              <a:t>	</a:t>
            </a:r>
            <a:r>
              <a:rPr lang="en-US" sz="3200" dirty="0">
                <a:solidFill>
                  <a:schemeClr val="bg1"/>
                </a:solidFill>
              </a:rPr>
              <a:t>A </a:t>
            </a:r>
            <a:r>
              <a:rPr lang="en-US" sz="3200" b="1" dirty="0">
                <a:solidFill>
                  <a:schemeClr val="bg1"/>
                </a:solidFill>
              </a:rPr>
              <a:t>Foreign Key</a:t>
            </a:r>
            <a:r>
              <a:rPr lang="en-US" sz="3200" dirty="0">
                <a:solidFill>
                  <a:schemeClr val="bg1"/>
                </a:solidFill>
              </a:rPr>
              <a:t> is a column in one table that links to the </a:t>
            </a:r>
            <a:r>
              <a:rPr lang="en-US" sz="3200" b="1" dirty="0">
                <a:solidFill>
                  <a:schemeClr val="bg1"/>
                </a:solidFill>
              </a:rPr>
              <a:t>Primary Key</a:t>
            </a:r>
            <a:r>
              <a:rPr lang="en-US" sz="3200" dirty="0">
                <a:solidFill>
                  <a:schemeClr val="bg1"/>
                </a:solidFill>
              </a:rPr>
              <a:t> of    	another table.</a:t>
            </a:r>
          </a:p>
          <a:p>
            <a:pPr>
              <a:buNone/>
            </a:pPr>
            <a:endParaRPr lang="en-US" sz="3200" dirty="0">
              <a:solidFill>
                <a:schemeClr val="bg1"/>
              </a:solidFill>
            </a:endParaRPr>
          </a:p>
          <a:p>
            <a:pPr rtl="0">
              <a:buNone/>
            </a:pPr>
            <a:r>
              <a:rPr lang="en-US" sz="3200" dirty="0">
                <a:solidFill>
                  <a:schemeClr val="bg1"/>
                </a:solidFill>
                <a:latin typeface="Courier New" panose="02070309020205020404" pitchFamily="49" charset="0"/>
              </a:rPr>
              <a:t>   </a:t>
            </a:r>
            <a:r>
              <a:rPr lang="en-US" sz="3200" dirty="0">
                <a:solidFill>
                  <a:srgbClr val="FFFF00"/>
                </a:solidFill>
                <a:latin typeface="Courier New" panose="02070309020205020404" pitchFamily="49" charset="0"/>
              </a:rPr>
              <a:t>FOREIGN KEY (</a:t>
            </a:r>
            <a:r>
              <a:rPr lang="en-US" sz="3200" dirty="0" err="1">
                <a:solidFill>
                  <a:srgbClr val="FFFF00"/>
                </a:solidFill>
                <a:latin typeface="Courier New" panose="02070309020205020404" pitchFamily="49" charset="0"/>
              </a:rPr>
              <a:t>doctor_id</a:t>
            </a:r>
            <a:r>
              <a:rPr lang="en-US" sz="3200" dirty="0">
                <a:solidFill>
                  <a:srgbClr val="FFFF00"/>
                </a:solidFill>
                <a:latin typeface="Courier New" panose="02070309020205020404" pitchFamily="49" charset="0"/>
              </a:rPr>
              <a:t>) REFERENCES doctors(id)</a:t>
            </a:r>
          </a:p>
          <a:p>
            <a:pPr rtl="0">
              <a:buNone/>
            </a:pPr>
            <a:r>
              <a:rPr lang="en-US" sz="3200" dirty="0">
                <a:solidFill>
                  <a:schemeClr val="bg1"/>
                </a:solidFill>
                <a:latin typeface="Courier New" panose="02070309020205020404" pitchFamily="49" charset="0"/>
              </a:rPr>
              <a:t>	</a:t>
            </a:r>
          </a:p>
          <a:p>
            <a:pPr lvl="1">
              <a:buFont typeface="Arial" panose="020B0604020202020204" pitchFamily="34" charset="0"/>
              <a:buChar char="•"/>
            </a:pPr>
            <a:r>
              <a:rPr lang="en-US" sz="3200" dirty="0" err="1">
                <a:solidFill>
                  <a:schemeClr val="bg1"/>
                </a:solidFill>
                <a:latin typeface="Courier New" panose="02070309020205020404" pitchFamily="49" charset="0"/>
              </a:rPr>
              <a:t>doctor_id</a:t>
            </a:r>
            <a:r>
              <a:rPr lang="en-US" sz="3200" dirty="0">
                <a:solidFill>
                  <a:schemeClr val="bg1"/>
                </a:solidFill>
              </a:rPr>
              <a:t> → from </a:t>
            </a:r>
            <a:r>
              <a:rPr lang="en-US" sz="3200" b="1" dirty="0">
                <a:solidFill>
                  <a:schemeClr val="bg1"/>
                </a:solidFill>
              </a:rPr>
              <a:t>appointments table</a:t>
            </a:r>
            <a:r>
              <a:rPr lang="en-US" sz="3200" dirty="0">
                <a:solidFill>
                  <a:schemeClr val="bg1"/>
                </a:solidFill>
              </a:rPr>
              <a:t> </a:t>
            </a:r>
          </a:p>
          <a:p>
            <a:pPr lvl="1">
              <a:buFont typeface="Arial" panose="020B0604020202020204" pitchFamily="34" charset="0"/>
              <a:buChar char="•"/>
            </a:pPr>
            <a:r>
              <a:rPr lang="en-US" sz="3200" dirty="0">
                <a:solidFill>
                  <a:schemeClr val="bg1"/>
                </a:solidFill>
                <a:latin typeface="Courier New" panose="02070309020205020404" pitchFamily="49" charset="0"/>
              </a:rPr>
              <a:t>id</a:t>
            </a:r>
            <a:r>
              <a:rPr lang="en-US" sz="3200" dirty="0">
                <a:solidFill>
                  <a:schemeClr val="bg1"/>
                </a:solidFill>
              </a:rPr>
              <a:t> → from </a:t>
            </a:r>
            <a:r>
              <a:rPr lang="en-US" sz="3200" b="1" dirty="0">
                <a:solidFill>
                  <a:schemeClr val="bg1"/>
                </a:solidFill>
              </a:rPr>
              <a:t>doctors table</a:t>
            </a:r>
            <a:r>
              <a:rPr lang="en-US" sz="3200" dirty="0">
                <a:solidFill>
                  <a:schemeClr val="bg1"/>
                </a:solidFill>
              </a:rPr>
              <a:t> </a:t>
            </a:r>
          </a:p>
        </p:txBody>
      </p:sp>
      <p:sp>
        <p:nvSpPr>
          <p:cNvPr id="7" name="Arrow: Right 6">
            <a:extLst>
              <a:ext uri="{FF2B5EF4-FFF2-40B4-BE49-F238E27FC236}">
                <a16:creationId xmlns:a16="http://schemas.microsoft.com/office/drawing/2014/main" id="{552515E6-4148-39A8-6A50-14D1230E3BD2}"/>
              </a:ext>
            </a:extLst>
          </p:cNvPr>
          <p:cNvSpPr/>
          <p:nvPr/>
        </p:nvSpPr>
        <p:spPr>
          <a:xfrm>
            <a:off x="814039" y="3203718"/>
            <a:ext cx="334536" cy="323386"/>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CC1D8BB9-3D1F-F573-5696-9B534640D240}"/>
              </a:ext>
            </a:extLst>
          </p:cNvPr>
          <p:cNvPicPr>
            <a:picLocks noChangeAspect="1"/>
          </p:cNvPicPr>
          <p:nvPr/>
        </p:nvPicPr>
        <p:blipFill>
          <a:blip r:embed="rId2"/>
          <a:stretch>
            <a:fillRect/>
          </a:stretch>
        </p:blipFill>
        <p:spPr>
          <a:xfrm>
            <a:off x="12894198" y="7743920"/>
            <a:ext cx="1641832" cy="485680"/>
          </a:xfrm>
          <a:prstGeom prst="rect">
            <a:avLst/>
          </a:prstGeom>
        </p:spPr>
      </p:pic>
      <p:sp>
        <p:nvSpPr>
          <p:cNvPr id="13" name="Arrow: Striped Right 12">
            <a:extLst>
              <a:ext uri="{FF2B5EF4-FFF2-40B4-BE49-F238E27FC236}">
                <a16:creationId xmlns:a16="http://schemas.microsoft.com/office/drawing/2014/main" id="{37234ED6-E5B6-2478-3AA7-22E8C506C3AF}"/>
              </a:ext>
            </a:extLst>
          </p:cNvPr>
          <p:cNvSpPr/>
          <p:nvPr/>
        </p:nvSpPr>
        <p:spPr>
          <a:xfrm>
            <a:off x="614163" y="940657"/>
            <a:ext cx="534412" cy="52933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38672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F9E8ECA-86E4-1B48-59D2-3F1E77253235}"/>
              </a:ext>
            </a:extLst>
          </p:cNvPr>
          <p:cNvPicPr>
            <a:picLocks noChangeAspect="1"/>
          </p:cNvPicPr>
          <p:nvPr/>
        </p:nvPicPr>
        <p:blipFill>
          <a:blip r:embed="rId2"/>
          <a:stretch>
            <a:fillRect/>
          </a:stretch>
        </p:blipFill>
        <p:spPr>
          <a:xfrm>
            <a:off x="12891740" y="7662570"/>
            <a:ext cx="1646063" cy="487722"/>
          </a:xfrm>
          <a:prstGeom prst="rect">
            <a:avLst/>
          </a:prstGeom>
        </p:spPr>
      </p:pic>
      <p:sp>
        <p:nvSpPr>
          <p:cNvPr id="3" name="TextBox 2">
            <a:extLst>
              <a:ext uri="{FF2B5EF4-FFF2-40B4-BE49-F238E27FC236}">
                <a16:creationId xmlns:a16="http://schemas.microsoft.com/office/drawing/2014/main" id="{2747E621-EDE6-8456-6087-73203FC8598B}"/>
              </a:ext>
            </a:extLst>
          </p:cNvPr>
          <p:cNvSpPr txBox="1"/>
          <p:nvPr/>
        </p:nvSpPr>
        <p:spPr>
          <a:xfrm>
            <a:off x="1003610" y="655242"/>
            <a:ext cx="7315200" cy="707886"/>
          </a:xfrm>
          <a:prstGeom prst="rect">
            <a:avLst/>
          </a:prstGeom>
          <a:noFill/>
        </p:spPr>
        <p:txBody>
          <a:bodyPr wrap="square">
            <a:spAutoFit/>
          </a:bodyPr>
          <a:lstStyle/>
          <a:p>
            <a:r>
              <a:rPr lang="en-US" sz="4000" dirty="0">
                <a:solidFill>
                  <a:schemeClr val="bg1"/>
                </a:solidFill>
              </a:rPr>
              <a:t> Why Use Foreign Key?</a:t>
            </a:r>
            <a:endParaRPr lang="en-IN" sz="4000" dirty="0">
              <a:solidFill>
                <a:schemeClr val="bg1"/>
              </a:solidFill>
            </a:endParaRPr>
          </a:p>
        </p:txBody>
      </p:sp>
      <p:sp>
        <p:nvSpPr>
          <p:cNvPr id="4" name="Arrow: Striped Right 3">
            <a:extLst>
              <a:ext uri="{FF2B5EF4-FFF2-40B4-BE49-F238E27FC236}">
                <a16:creationId xmlns:a16="http://schemas.microsoft.com/office/drawing/2014/main" id="{6D1D7030-72C2-3EB6-2E3F-AFAF015B8BD7}"/>
              </a:ext>
            </a:extLst>
          </p:cNvPr>
          <p:cNvSpPr/>
          <p:nvPr/>
        </p:nvSpPr>
        <p:spPr>
          <a:xfrm>
            <a:off x="490654" y="769434"/>
            <a:ext cx="512956" cy="479502"/>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hape 2">
            <a:extLst>
              <a:ext uri="{FF2B5EF4-FFF2-40B4-BE49-F238E27FC236}">
                <a16:creationId xmlns:a16="http://schemas.microsoft.com/office/drawing/2014/main" id="{3EE871B4-FFB6-BC03-EDA8-EFA01FE7B96B}"/>
              </a:ext>
            </a:extLst>
          </p:cNvPr>
          <p:cNvSpPr/>
          <p:nvPr/>
        </p:nvSpPr>
        <p:spPr>
          <a:xfrm>
            <a:off x="398057" y="1518731"/>
            <a:ext cx="6917143" cy="3208011"/>
          </a:xfrm>
          <a:prstGeom prst="roundRect">
            <a:avLst>
              <a:gd name="adj" fmla="val 757"/>
            </a:avLst>
          </a:prstGeom>
          <a:solidFill>
            <a:srgbClr val="2B2952"/>
          </a:solidFill>
          <a:ln/>
        </p:spPr>
      </p:sp>
      <p:sp>
        <p:nvSpPr>
          <p:cNvPr id="10" name="TextBox 9">
            <a:extLst>
              <a:ext uri="{FF2B5EF4-FFF2-40B4-BE49-F238E27FC236}">
                <a16:creationId xmlns:a16="http://schemas.microsoft.com/office/drawing/2014/main" id="{E36CB2EA-DC2D-08AA-C230-571758B65EF3}"/>
              </a:ext>
            </a:extLst>
          </p:cNvPr>
          <p:cNvSpPr txBox="1"/>
          <p:nvPr/>
        </p:nvSpPr>
        <p:spPr>
          <a:xfrm>
            <a:off x="398057" y="1587421"/>
            <a:ext cx="7079189" cy="3231654"/>
          </a:xfrm>
          <a:prstGeom prst="rect">
            <a:avLst/>
          </a:prstGeom>
          <a:noFill/>
        </p:spPr>
        <p:txBody>
          <a:bodyPr wrap="square">
            <a:spAutoFit/>
          </a:bodyPr>
          <a:lstStyle/>
          <a:p>
            <a:pPr>
              <a:buNone/>
            </a:pPr>
            <a:r>
              <a:rPr lang="en-US" sz="2400" b="1" dirty="0">
                <a:solidFill>
                  <a:schemeClr val="bg1"/>
                </a:solidFill>
              </a:rPr>
              <a:t>1. Ensures Data Integrity </a:t>
            </a:r>
            <a:r>
              <a:rPr lang="en-US" b="1" dirty="0">
                <a:solidFill>
                  <a:schemeClr val="bg1"/>
                </a:solidFill>
              </a:rPr>
              <a:t>:</a:t>
            </a:r>
          </a:p>
          <a:p>
            <a:pPr>
              <a:buNone/>
            </a:pPr>
            <a:r>
              <a:rPr lang="en-US" dirty="0">
                <a:solidFill>
                  <a:schemeClr val="bg1"/>
                </a:solidFill>
              </a:rPr>
              <a:t>     Prevents invalid data	</a:t>
            </a:r>
          </a:p>
          <a:p>
            <a:pPr lvl="1">
              <a:buFont typeface="Arial" panose="020B0604020202020204" pitchFamily="34" charset="0"/>
              <a:buChar char="•"/>
            </a:pPr>
            <a:r>
              <a:rPr lang="en-US" dirty="0">
                <a:solidFill>
                  <a:schemeClr val="bg1"/>
                </a:solidFill>
              </a:rPr>
              <a:t> You </a:t>
            </a:r>
            <a:r>
              <a:rPr lang="en-US" b="1" dirty="0">
                <a:solidFill>
                  <a:schemeClr val="bg1"/>
                </a:solidFill>
              </a:rPr>
              <a:t>cannot insert</a:t>
            </a:r>
            <a:r>
              <a:rPr lang="en-US" dirty="0">
                <a:solidFill>
                  <a:schemeClr val="bg1"/>
                </a:solidFill>
              </a:rPr>
              <a:t> an appointment with a doctor that doesn’t exist</a:t>
            </a:r>
          </a:p>
          <a:p>
            <a:r>
              <a:rPr lang="en-US" dirty="0">
                <a:solidFill>
                  <a:schemeClr val="bg1"/>
                </a:solidFill>
              </a:rPr>
              <a:t> </a:t>
            </a:r>
          </a:p>
          <a:p>
            <a:pPr>
              <a:buNone/>
            </a:pPr>
            <a:r>
              <a:rPr lang="en-US" b="1" dirty="0">
                <a:solidFill>
                  <a:schemeClr val="bg1"/>
                </a:solidFill>
              </a:rPr>
              <a:t>Example:</a:t>
            </a:r>
          </a:p>
          <a:p>
            <a:pPr>
              <a:buNone/>
            </a:pPr>
            <a:r>
              <a:rPr lang="en-US" dirty="0">
                <a:solidFill>
                  <a:schemeClr val="bg1"/>
                </a:solidFill>
              </a:rPr>
              <a:t>    ❌ Invalid:</a:t>
            </a:r>
          </a:p>
          <a:p>
            <a:pPr rtl="0">
              <a:buNone/>
            </a:pPr>
            <a:r>
              <a:rPr lang="en-US" dirty="0">
                <a:solidFill>
                  <a:schemeClr val="bg1"/>
                </a:solidFill>
              </a:rPr>
              <a:t>     </a:t>
            </a:r>
            <a:r>
              <a:rPr lang="en-US" dirty="0" err="1">
                <a:solidFill>
                  <a:schemeClr val="bg1"/>
                </a:solidFill>
              </a:rPr>
              <a:t>doctor_id</a:t>
            </a:r>
            <a:r>
              <a:rPr lang="en-US" dirty="0">
                <a:solidFill>
                  <a:schemeClr val="bg1"/>
                </a:solidFill>
              </a:rPr>
              <a:t> = 999  -- doctor does not exist</a:t>
            </a:r>
          </a:p>
          <a:p>
            <a:pPr>
              <a:buNone/>
            </a:pPr>
            <a:r>
              <a:rPr lang="en-US" dirty="0">
                <a:solidFill>
                  <a:schemeClr val="bg1"/>
                </a:solidFill>
              </a:rPr>
              <a:t>     ✔ Allowed:</a:t>
            </a:r>
          </a:p>
          <a:p>
            <a:pPr rtl="0">
              <a:buNone/>
            </a:pPr>
            <a:r>
              <a:rPr lang="en-US" dirty="0">
                <a:solidFill>
                  <a:schemeClr val="bg1"/>
                </a:solidFill>
              </a:rPr>
              <a:t>     </a:t>
            </a:r>
            <a:r>
              <a:rPr lang="en-US" dirty="0" err="1">
                <a:solidFill>
                  <a:schemeClr val="bg1"/>
                </a:solidFill>
              </a:rPr>
              <a:t>doctor_id</a:t>
            </a:r>
            <a:r>
              <a:rPr lang="en-US" dirty="0">
                <a:solidFill>
                  <a:schemeClr val="bg1"/>
                </a:solidFill>
              </a:rPr>
              <a:t> = 1  -- exists in doctors table</a:t>
            </a:r>
          </a:p>
          <a:p>
            <a:pPr rtl="0">
              <a:buNone/>
            </a:pPr>
            <a:endParaRPr lang="en-US" dirty="0">
              <a:solidFill>
                <a:schemeClr val="bg1"/>
              </a:solidFill>
            </a:endParaRPr>
          </a:p>
          <a:p>
            <a:pPr marL="342900" indent="-342900">
              <a:buFont typeface="Arial" panose="020B0604020202020204" pitchFamily="34" charset="0"/>
              <a:buChar char="•"/>
            </a:pPr>
            <a:r>
              <a:rPr lang="en-US" dirty="0">
                <a:solidFill>
                  <a:srgbClr val="FFC000"/>
                </a:solidFill>
              </a:rPr>
              <a:t>This keeps your database </a:t>
            </a:r>
            <a:r>
              <a:rPr lang="en-US" b="1" dirty="0">
                <a:solidFill>
                  <a:srgbClr val="FFC000"/>
                </a:solidFill>
              </a:rPr>
              <a:t>accurate and reliable</a:t>
            </a:r>
            <a:endParaRPr lang="en-US" dirty="0">
              <a:solidFill>
                <a:srgbClr val="FFC000"/>
              </a:solidFill>
            </a:endParaRPr>
          </a:p>
        </p:txBody>
      </p:sp>
      <p:sp>
        <p:nvSpPr>
          <p:cNvPr id="6" name="Shape 2">
            <a:extLst>
              <a:ext uri="{FF2B5EF4-FFF2-40B4-BE49-F238E27FC236}">
                <a16:creationId xmlns:a16="http://schemas.microsoft.com/office/drawing/2014/main" id="{2E68A472-48D7-957F-EBAB-3E1734A571E8}"/>
              </a:ext>
            </a:extLst>
          </p:cNvPr>
          <p:cNvSpPr/>
          <p:nvPr/>
        </p:nvSpPr>
        <p:spPr>
          <a:xfrm>
            <a:off x="398056" y="4794000"/>
            <a:ext cx="6917144" cy="3208011"/>
          </a:xfrm>
          <a:prstGeom prst="roundRect">
            <a:avLst>
              <a:gd name="adj" fmla="val 757"/>
            </a:avLst>
          </a:prstGeom>
          <a:solidFill>
            <a:srgbClr val="2B2952"/>
          </a:solidFill>
          <a:ln/>
        </p:spPr>
        <p:txBody>
          <a:bodyPr/>
          <a:lstStyle/>
          <a:p>
            <a:endParaRPr lang="en-IN" dirty="0"/>
          </a:p>
        </p:txBody>
      </p:sp>
      <p:sp>
        <p:nvSpPr>
          <p:cNvPr id="9" name="Shape 2">
            <a:extLst>
              <a:ext uri="{FF2B5EF4-FFF2-40B4-BE49-F238E27FC236}">
                <a16:creationId xmlns:a16="http://schemas.microsoft.com/office/drawing/2014/main" id="{05EFEB1F-2A9A-FFA7-9211-C9CB77A1BA88}"/>
              </a:ext>
            </a:extLst>
          </p:cNvPr>
          <p:cNvSpPr/>
          <p:nvPr/>
        </p:nvSpPr>
        <p:spPr>
          <a:xfrm>
            <a:off x="7477246" y="1520163"/>
            <a:ext cx="6917144" cy="3206579"/>
          </a:xfrm>
          <a:prstGeom prst="roundRect">
            <a:avLst>
              <a:gd name="adj" fmla="val 757"/>
            </a:avLst>
          </a:prstGeom>
          <a:solidFill>
            <a:srgbClr val="2B2952"/>
          </a:solidFill>
          <a:ln/>
        </p:spPr>
      </p:sp>
      <p:sp>
        <p:nvSpPr>
          <p:cNvPr id="14" name="TextBox 13">
            <a:extLst>
              <a:ext uri="{FF2B5EF4-FFF2-40B4-BE49-F238E27FC236}">
                <a16:creationId xmlns:a16="http://schemas.microsoft.com/office/drawing/2014/main" id="{9FD80017-24F9-4860-C2AD-5F4FA77A8CAB}"/>
              </a:ext>
            </a:extLst>
          </p:cNvPr>
          <p:cNvSpPr txBox="1"/>
          <p:nvPr/>
        </p:nvSpPr>
        <p:spPr>
          <a:xfrm>
            <a:off x="7477245" y="1587421"/>
            <a:ext cx="6794340" cy="2954655"/>
          </a:xfrm>
          <a:prstGeom prst="rect">
            <a:avLst/>
          </a:prstGeom>
          <a:noFill/>
        </p:spPr>
        <p:txBody>
          <a:bodyPr wrap="square">
            <a:spAutoFit/>
          </a:bodyPr>
          <a:lstStyle/>
          <a:p>
            <a:r>
              <a:rPr lang="en-US" sz="2400" b="1" dirty="0">
                <a:solidFill>
                  <a:schemeClr val="bg1"/>
                </a:solidFill>
              </a:rPr>
              <a:t>2. Creates Relationship Between Tables :</a:t>
            </a:r>
          </a:p>
          <a:p>
            <a:r>
              <a:rPr lang="en-US" dirty="0">
                <a:solidFill>
                  <a:schemeClr val="bg1"/>
                </a:solidFill>
              </a:rPr>
              <a:t>      Establishes connection:</a:t>
            </a:r>
          </a:p>
          <a:p>
            <a:r>
              <a:rPr lang="en-US" dirty="0">
                <a:solidFill>
                  <a:schemeClr val="bg1"/>
                </a:solidFill>
              </a:rPr>
              <a:t>	Doctors (1) -------- (M) Appointments</a:t>
            </a:r>
          </a:p>
          <a:p>
            <a:endParaRPr lang="en-US" dirty="0">
              <a:solidFill>
                <a:schemeClr val="bg1"/>
              </a:solidFill>
            </a:endParaRPr>
          </a:p>
          <a:p>
            <a:pPr marL="285750" indent="-285750">
              <a:buFont typeface="Arial" panose="020B0604020202020204" pitchFamily="34" charset="0"/>
              <a:buChar char="•"/>
            </a:pPr>
            <a:r>
              <a:rPr lang="en-US" dirty="0">
                <a:solidFill>
                  <a:srgbClr val="FFC000"/>
                </a:solidFill>
              </a:rPr>
              <a:t>Here we have one to many connection</a:t>
            </a:r>
          </a:p>
          <a:p>
            <a:endParaRPr lang="en-US" dirty="0">
              <a:solidFill>
                <a:schemeClr val="bg1"/>
              </a:solidFill>
            </a:endParaRPr>
          </a:p>
          <a:p>
            <a:r>
              <a:rPr lang="en-US" dirty="0">
                <a:solidFill>
                  <a:schemeClr val="bg1"/>
                </a:solidFill>
              </a:rPr>
              <a:t>       One doctor → Many appointments </a:t>
            </a:r>
          </a:p>
          <a:p>
            <a:r>
              <a:rPr lang="en-US" dirty="0">
                <a:solidFill>
                  <a:schemeClr val="bg1"/>
                </a:solidFill>
              </a:rPr>
              <a:t>       Each appointment → One doctor </a:t>
            </a:r>
          </a:p>
          <a:p>
            <a:endParaRPr lang="en-US" dirty="0">
              <a:solidFill>
                <a:schemeClr val="bg1"/>
              </a:solidFill>
            </a:endParaRPr>
          </a:p>
          <a:p>
            <a:r>
              <a:rPr lang="en-US" dirty="0">
                <a:solidFill>
                  <a:schemeClr val="bg1"/>
                </a:solidFill>
              </a:rPr>
              <a:t>Without foreign key → tables become </a:t>
            </a:r>
            <a:r>
              <a:rPr lang="en-US" b="1" dirty="0">
                <a:solidFill>
                  <a:schemeClr val="bg1"/>
                </a:solidFill>
              </a:rPr>
              <a:t>independent (no connection)</a:t>
            </a:r>
            <a:endParaRPr lang="en-US" dirty="0">
              <a:solidFill>
                <a:schemeClr val="bg1"/>
              </a:solidFill>
            </a:endParaRPr>
          </a:p>
        </p:txBody>
      </p:sp>
      <p:sp>
        <p:nvSpPr>
          <p:cNvPr id="16" name="TextBox 15">
            <a:extLst>
              <a:ext uri="{FF2B5EF4-FFF2-40B4-BE49-F238E27FC236}">
                <a16:creationId xmlns:a16="http://schemas.microsoft.com/office/drawing/2014/main" id="{F3A1034C-8B47-D829-8193-BE09252A461D}"/>
              </a:ext>
            </a:extLst>
          </p:cNvPr>
          <p:cNvSpPr txBox="1"/>
          <p:nvPr/>
        </p:nvSpPr>
        <p:spPr>
          <a:xfrm>
            <a:off x="398056" y="4908192"/>
            <a:ext cx="7315200" cy="2400657"/>
          </a:xfrm>
          <a:prstGeom prst="rect">
            <a:avLst/>
          </a:prstGeom>
          <a:noFill/>
        </p:spPr>
        <p:txBody>
          <a:bodyPr wrap="square">
            <a:spAutoFit/>
          </a:bodyPr>
          <a:lstStyle/>
          <a:p>
            <a:pPr>
              <a:buNone/>
            </a:pPr>
            <a:r>
              <a:rPr lang="en-US" sz="2400" b="1" dirty="0">
                <a:solidFill>
                  <a:schemeClr val="bg1"/>
                </a:solidFill>
              </a:rPr>
              <a:t>3. Maintains Consistency : </a:t>
            </a:r>
          </a:p>
          <a:p>
            <a:pPr lvl="1">
              <a:buFont typeface="Arial" panose="020B0604020202020204" pitchFamily="34" charset="0"/>
              <a:buChar char="•"/>
            </a:pPr>
            <a:r>
              <a:rPr lang="en-US" dirty="0">
                <a:solidFill>
                  <a:schemeClr val="bg1"/>
                </a:solidFill>
              </a:rPr>
              <a:t> Same doctor data is used everywhere </a:t>
            </a:r>
          </a:p>
          <a:p>
            <a:pPr lvl="1">
              <a:buFont typeface="Arial" panose="020B0604020202020204" pitchFamily="34" charset="0"/>
              <a:buChar char="•"/>
            </a:pPr>
            <a:r>
              <a:rPr lang="en-US" dirty="0">
                <a:solidFill>
                  <a:schemeClr val="bg1"/>
                </a:solidFill>
              </a:rPr>
              <a:t>No duplication of doctor info </a:t>
            </a:r>
          </a:p>
          <a:p>
            <a:pPr lvl="1"/>
            <a:endParaRPr lang="en-US" dirty="0">
              <a:solidFill>
                <a:schemeClr val="bg1"/>
              </a:solidFill>
            </a:endParaRPr>
          </a:p>
          <a:p>
            <a:pPr>
              <a:buNone/>
            </a:pPr>
            <a:r>
              <a:rPr lang="en-US" dirty="0">
                <a:solidFill>
                  <a:schemeClr val="bg1"/>
                </a:solidFill>
              </a:rPr>
              <a:t> </a:t>
            </a:r>
            <a:r>
              <a:rPr lang="en-US" b="1" dirty="0">
                <a:solidFill>
                  <a:schemeClr val="bg1"/>
                </a:solidFill>
              </a:rPr>
              <a:t>Instead of storing:</a:t>
            </a:r>
          </a:p>
          <a:p>
            <a:pPr rtl="0">
              <a:buNone/>
            </a:pPr>
            <a:r>
              <a:rPr lang="en-US" dirty="0">
                <a:solidFill>
                  <a:schemeClr val="bg1"/>
                </a:solidFill>
              </a:rPr>
              <a:t>	Doctor Name again and again ❌</a:t>
            </a:r>
          </a:p>
          <a:p>
            <a:pPr>
              <a:buNone/>
            </a:pPr>
            <a:r>
              <a:rPr lang="en-US" b="1" dirty="0">
                <a:solidFill>
                  <a:schemeClr val="bg1"/>
                </a:solidFill>
              </a:rPr>
              <a:t>store:</a:t>
            </a:r>
          </a:p>
          <a:p>
            <a:pPr rtl="0">
              <a:buNone/>
            </a:pPr>
            <a:r>
              <a:rPr lang="en-US" dirty="0">
                <a:solidFill>
                  <a:schemeClr val="bg1"/>
                </a:solidFill>
              </a:rPr>
              <a:t>	</a:t>
            </a:r>
            <a:r>
              <a:rPr lang="en-US" dirty="0" err="1">
                <a:solidFill>
                  <a:schemeClr val="bg1"/>
                </a:solidFill>
              </a:rPr>
              <a:t>doctor_id</a:t>
            </a:r>
            <a:r>
              <a:rPr lang="en-US" dirty="0">
                <a:solidFill>
                  <a:schemeClr val="bg1"/>
                </a:solidFill>
              </a:rPr>
              <a:t> only ✔</a:t>
            </a:r>
          </a:p>
        </p:txBody>
      </p:sp>
      <p:sp>
        <p:nvSpPr>
          <p:cNvPr id="17" name="Shape 2">
            <a:extLst>
              <a:ext uri="{FF2B5EF4-FFF2-40B4-BE49-F238E27FC236}">
                <a16:creationId xmlns:a16="http://schemas.microsoft.com/office/drawing/2014/main" id="{5E73DB3F-51CE-EE41-DBFF-8BA6A67C186B}"/>
              </a:ext>
            </a:extLst>
          </p:cNvPr>
          <p:cNvSpPr/>
          <p:nvPr/>
        </p:nvSpPr>
        <p:spPr>
          <a:xfrm>
            <a:off x="7477246" y="4793999"/>
            <a:ext cx="6917144" cy="3208011"/>
          </a:xfrm>
          <a:prstGeom prst="roundRect">
            <a:avLst>
              <a:gd name="adj" fmla="val 757"/>
            </a:avLst>
          </a:prstGeom>
          <a:solidFill>
            <a:srgbClr val="2B2952"/>
          </a:solidFill>
          <a:ln/>
        </p:spPr>
        <p:txBody>
          <a:bodyPr tIns="108000"/>
          <a:lstStyle/>
          <a:p>
            <a:r>
              <a:rPr lang="en-IN" sz="2400" b="1" dirty="0">
                <a:solidFill>
                  <a:schemeClr val="bg1"/>
                </a:solidFill>
              </a:rPr>
              <a:t>4. Supports JOIN Operations :</a:t>
            </a:r>
          </a:p>
          <a:p>
            <a:r>
              <a:rPr lang="en-IN" dirty="0">
                <a:solidFill>
                  <a:schemeClr val="bg1"/>
                </a:solidFill>
              </a:rPr>
              <a:t>      Makes queries powerful:</a:t>
            </a:r>
          </a:p>
          <a:p>
            <a:endParaRPr lang="en-IN" dirty="0">
              <a:solidFill>
                <a:schemeClr val="bg1"/>
              </a:solidFill>
            </a:endParaRPr>
          </a:p>
          <a:p>
            <a:pPr lvl="2"/>
            <a:r>
              <a:rPr lang="en-IN" dirty="0">
                <a:solidFill>
                  <a:srgbClr val="FFC000"/>
                </a:solidFill>
              </a:rPr>
              <a:t>SELECT </a:t>
            </a:r>
            <a:r>
              <a:rPr lang="en-IN" dirty="0" err="1">
                <a:solidFill>
                  <a:srgbClr val="FFC000"/>
                </a:solidFill>
              </a:rPr>
              <a:t>a.patient_name</a:t>
            </a:r>
            <a:r>
              <a:rPr lang="en-IN" dirty="0">
                <a:solidFill>
                  <a:srgbClr val="FFC000"/>
                </a:solidFill>
              </a:rPr>
              <a:t>, d.name</a:t>
            </a:r>
            <a:br>
              <a:rPr lang="en-IN" dirty="0">
                <a:solidFill>
                  <a:srgbClr val="FFC000"/>
                </a:solidFill>
              </a:rPr>
            </a:br>
            <a:r>
              <a:rPr lang="en-IN" dirty="0">
                <a:solidFill>
                  <a:srgbClr val="FFC000"/>
                </a:solidFill>
              </a:rPr>
              <a:t>FROM appointments a</a:t>
            </a:r>
            <a:br>
              <a:rPr lang="en-IN" dirty="0">
                <a:solidFill>
                  <a:srgbClr val="FFC000"/>
                </a:solidFill>
              </a:rPr>
            </a:br>
            <a:r>
              <a:rPr lang="en-IN" dirty="0">
                <a:solidFill>
                  <a:srgbClr val="FFC000"/>
                </a:solidFill>
              </a:rPr>
              <a:t>JOIN doctors d</a:t>
            </a:r>
            <a:br>
              <a:rPr lang="en-IN" dirty="0">
                <a:solidFill>
                  <a:srgbClr val="FFC000"/>
                </a:solidFill>
              </a:rPr>
            </a:br>
            <a:r>
              <a:rPr lang="en-IN" dirty="0">
                <a:solidFill>
                  <a:srgbClr val="FFC000"/>
                </a:solidFill>
              </a:rPr>
              <a:t>ON </a:t>
            </a:r>
            <a:r>
              <a:rPr lang="en-IN" dirty="0" err="1">
                <a:solidFill>
                  <a:srgbClr val="FFC000"/>
                </a:solidFill>
              </a:rPr>
              <a:t>a.doctor_id</a:t>
            </a:r>
            <a:r>
              <a:rPr lang="en-IN" dirty="0">
                <a:solidFill>
                  <a:srgbClr val="FFC000"/>
                </a:solidFill>
              </a:rPr>
              <a:t> = d.id;</a:t>
            </a:r>
          </a:p>
          <a:p>
            <a:pPr lvl="2"/>
            <a:endParaRPr lang="en-IN" dirty="0">
              <a:solidFill>
                <a:schemeClr val="bg1"/>
              </a:solidFill>
            </a:endParaRPr>
          </a:p>
          <a:p>
            <a:r>
              <a:rPr lang="en-IN" dirty="0">
                <a:solidFill>
                  <a:schemeClr val="bg1"/>
                </a:solidFill>
              </a:rPr>
              <a:t>This allows:</a:t>
            </a:r>
          </a:p>
          <a:p>
            <a:r>
              <a:rPr lang="en-IN" dirty="0">
                <a:solidFill>
                  <a:schemeClr val="bg1"/>
                </a:solidFill>
              </a:rPr>
              <a:t>	Fetch doctor + patient data together </a:t>
            </a:r>
          </a:p>
          <a:p>
            <a:r>
              <a:rPr lang="en-IN" dirty="0">
                <a:solidFill>
                  <a:schemeClr val="bg1"/>
                </a:solidFill>
              </a:rPr>
              <a:t>	Better performance</a:t>
            </a:r>
          </a:p>
        </p:txBody>
      </p:sp>
    </p:spTree>
    <p:extLst>
      <p:ext uri="{BB962C8B-B14F-4D97-AF65-F5344CB8AC3E}">
        <p14:creationId xmlns:p14="http://schemas.microsoft.com/office/powerpoint/2010/main" val="1168025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2">
            <a:extLst>
              <a:ext uri="{FF2B5EF4-FFF2-40B4-BE49-F238E27FC236}">
                <a16:creationId xmlns:a16="http://schemas.microsoft.com/office/drawing/2014/main" id="{9EAA17B3-DACA-3DB3-1C94-DF0970515195}"/>
              </a:ext>
            </a:extLst>
          </p:cNvPr>
          <p:cNvSpPr/>
          <p:nvPr/>
        </p:nvSpPr>
        <p:spPr>
          <a:xfrm>
            <a:off x="9235271" y="3426110"/>
            <a:ext cx="4689071" cy="2546429"/>
          </a:xfrm>
          <a:prstGeom prst="roundRect">
            <a:avLst>
              <a:gd name="adj" fmla="val 757"/>
            </a:avLst>
          </a:prstGeom>
          <a:solidFill>
            <a:srgbClr val="2B2952"/>
          </a:solidFill>
          <a:ln/>
        </p:spPr>
        <p:txBody>
          <a:bodyPr/>
          <a:lstStyle/>
          <a:p>
            <a:endParaRPr lang="en-IN" dirty="0"/>
          </a:p>
        </p:txBody>
      </p:sp>
      <p:pic>
        <p:nvPicPr>
          <p:cNvPr id="5" name="Picture 4">
            <a:extLst>
              <a:ext uri="{FF2B5EF4-FFF2-40B4-BE49-F238E27FC236}">
                <a16:creationId xmlns:a16="http://schemas.microsoft.com/office/drawing/2014/main" id="{67922931-0381-589D-F0E4-D88FADB3CB29}"/>
              </a:ext>
            </a:extLst>
          </p:cNvPr>
          <p:cNvPicPr>
            <a:picLocks noChangeAspect="1"/>
          </p:cNvPicPr>
          <p:nvPr/>
        </p:nvPicPr>
        <p:blipFill>
          <a:blip r:embed="rId2"/>
          <a:stretch>
            <a:fillRect/>
          </a:stretch>
        </p:blipFill>
        <p:spPr>
          <a:xfrm>
            <a:off x="12885276" y="7743825"/>
            <a:ext cx="1638300" cy="485775"/>
          </a:xfrm>
          <a:prstGeom prst="rect">
            <a:avLst/>
          </a:prstGeom>
        </p:spPr>
      </p:pic>
      <p:sp>
        <p:nvSpPr>
          <p:cNvPr id="9" name="TextBox 8">
            <a:extLst>
              <a:ext uri="{FF2B5EF4-FFF2-40B4-BE49-F238E27FC236}">
                <a16:creationId xmlns:a16="http://schemas.microsoft.com/office/drawing/2014/main" id="{D5407FBA-A339-4E6C-DE63-54CA612A13C9}"/>
              </a:ext>
            </a:extLst>
          </p:cNvPr>
          <p:cNvSpPr txBox="1"/>
          <p:nvPr/>
        </p:nvSpPr>
        <p:spPr>
          <a:xfrm>
            <a:off x="1238492" y="438921"/>
            <a:ext cx="7315200" cy="707886"/>
          </a:xfrm>
          <a:prstGeom prst="rect">
            <a:avLst/>
          </a:prstGeom>
          <a:noFill/>
        </p:spPr>
        <p:txBody>
          <a:bodyPr wrap="square">
            <a:spAutoFit/>
          </a:bodyPr>
          <a:lstStyle/>
          <a:p>
            <a:r>
              <a:rPr lang="en-IN" sz="4000" dirty="0">
                <a:solidFill>
                  <a:schemeClr val="bg1"/>
                </a:solidFill>
              </a:rPr>
              <a:t>JOIN Query Explanation :</a:t>
            </a:r>
          </a:p>
        </p:txBody>
      </p:sp>
      <p:sp>
        <p:nvSpPr>
          <p:cNvPr id="11" name="Arrow: Striped Right 10">
            <a:extLst>
              <a:ext uri="{FF2B5EF4-FFF2-40B4-BE49-F238E27FC236}">
                <a16:creationId xmlns:a16="http://schemas.microsoft.com/office/drawing/2014/main" id="{EF8E606F-865D-7D5A-F07C-03A814D89A74}"/>
              </a:ext>
            </a:extLst>
          </p:cNvPr>
          <p:cNvSpPr/>
          <p:nvPr/>
        </p:nvSpPr>
        <p:spPr>
          <a:xfrm>
            <a:off x="439839" y="474560"/>
            <a:ext cx="706056" cy="636608"/>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EDF3321-069F-D230-BC9B-BE2B51785C46}"/>
              </a:ext>
            </a:extLst>
          </p:cNvPr>
          <p:cNvSpPr txBox="1"/>
          <p:nvPr/>
        </p:nvSpPr>
        <p:spPr>
          <a:xfrm>
            <a:off x="2176042" y="1310863"/>
            <a:ext cx="7315200" cy="1754326"/>
          </a:xfrm>
          <a:prstGeom prst="rect">
            <a:avLst/>
          </a:prstGeom>
          <a:noFill/>
        </p:spPr>
        <p:txBody>
          <a:bodyPr wrap="square">
            <a:spAutoFit/>
          </a:bodyPr>
          <a:lstStyle/>
          <a:p>
            <a:pPr rtl="0">
              <a:buNone/>
            </a:pPr>
            <a:r>
              <a:rPr lang="en-IN" dirty="0">
                <a:solidFill>
                  <a:srgbClr val="FFC000"/>
                </a:solidFill>
              </a:rPr>
              <a:t>SELECT a.id, </a:t>
            </a:r>
            <a:r>
              <a:rPr lang="en-IN" dirty="0" err="1">
                <a:solidFill>
                  <a:srgbClr val="FFC000"/>
                </a:solidFill>
              </a:rPr>
              <a:t>a.patient_name</a:t>
            </a:r>
            <a:r>
              <a:rPr lang="en-IN" dirty="0">
                <a:solidFill>
                  <a:srgbClr val="FFC000"/>
                </a:solidFill>
              </a:rPr>
              <a:t>, </a:t>
            </a:r>
            <a:r>
              <a:rPr lang="en-IN" dirty="0" err="1">
                <a:solidFill>
                  <a:srgbClr val="FFC000"/>
                </a:solidFill>
              </a:rPr>
              <a:t>a.patient_phone</a:t>
            </a:r>
            <a:r>
              <a:rPr lang="en-IN" dirty="0">
                <a:solidFill>
                  <a:srgbClr val="FFC000"/>
                </a:solidFill>
              </a:rPr>
              <a:t>, </a:t>
            </a:r>
            <a:br>
              <a:rPr lang="en-IN" dirty="0">
                <a:solidFill>
                  <a:srgbClr val="FFC000"/>
                </a:solidFill>
              </a:rPr>
            </a:br>
            <a:r>
              <a:rPr lang="en-IN" dirty="0">
                <a:solidFill>
                  <a:srgbClr val="FFC000"/>
                </a:solidFill>
              </a:rPr>
              <a:t>DATE_FORMAT(</a:t>
            </a:r>
            <a:r>
              <a:rPr lang="en-IN" dirty="0" err="1">
                <a:solidFill>
                  <a:srgbClr val="FFC000"/>
                </a:solidFill>
              </a:rPr>
              <a:t>a.appointment_date</a:t>
            </a:r>
            <a:r>
              <a:rPr lang="en-IN" dirty="0">
                <a:solidFill>
                  <a:srgbClr val="FFC000"/>
                </a:solidFill>
              </a:rPr>
              <a:t>, '%d-%m-%Y') as </a:t>
            </a:r>
            <a:r>
              <a:rPr lang="en-IN" dirty="0" err="1">
                <a:solidFill>
                  <a:srgbClr val="FFC000"/>
                </a:solidFill>
              </a:rPr>
              <a:t>appointment_date</a:t>
            </a:r>
            <a:r>
              <a:rPr lang="en-IN" dirty="0">
                <a:solidFill>
                  <a:srgbClr val="FFC000"/>
                </a:solidFill>
              </a:rPr>
              <a:t>, </a:t>
            </a:r>
            <a:br>
              <a:rPr lang="en-IN" dirty="0">
                <a:solidFill>
                  <a:srgbClr val="FFC000"/>
                </a:solidFill>
              </a:rPr>
            </a:br>
            <a:r>
              <a:rPr lang="en-IN" dirty="0" err="1">
                <a:solidFill>
                  <a:srgbClr val="FFC000"/>
                </a:solidFill>
              </a:rPr>
              <a:t>a.time_slot</a:t>
            </a:r>
            <a:r>
              <a:rPr lang="en-IN" dirty="0">
                <a:solidFill>
                  <a:srgbClr val="FFC000"/>
                </a:solidFill>
              </a:rPr>
              <a:t>, </a:t>
            </a:r>
            <a:r>
              <a:rPr lang="en-IN" dirty="0" err="1">
                <a:solidFill>
                  <a:srgbClr val="FFC000"/>
                </a:solidFill>
              </a:rPr>
              <a:t>a.status</a:t>
            </a:r>
            <a:r>
              <a:rPr lang="en-IN" dirty="0">
                <a:solidFill>
                  <a:srgbClr val="FFC000"/>
                </a:solidFill>
              </a:rPr>
              <a:t>, </a:t>
            </a:r>
            <a:br>
              <a:rPr lang="en-IN" dirty="0">
                <a:solidFill>
                  <a:srgbClr val="FFC000"/>
                </a:solidFill>
              </a:rPr>
            </a:br>
            <a:r>
              <a:rPr lang="en-IN" dirty="0">
                <a:solidFill>
                  <a:srgbClr val="FFC000"/>
                </a:solidFill>
              </a:rPr>
              <a:t>d.name as </a:t>
            </a:r>
            <a:r>
              <a:rPr lang="en-IN" dirty="0" err="1">
                <a:solidFill>
                  <a:srgbClr val="FFC000"/>
                </a:solidFill>
              </a:rPr>
              <a:t>doctor_name</a:t>
            </a:r>
            <a:r>
              <a:rPr lang="en-IN" dirty="0">
                <a:solidFill>
                  <a:srgbClr val="FFC000"/>
                </a:solidFill>
              </a:rPr>
              <a:t>, </a:t>
            </a:r>
            <a:r>
              <a:rPr lang="en-IN" dirty="0" err="1">
                <a:solidFill>
                  <a:srgbClr val="FFC000"/>
                </a:solidFill>
              </a:rPr>
              <a:t>d.specialization</a:t>
            </a:r>
            <a:br>
              <a:rPr lang="en-IN" dirty="0">
                <a:solidFill>
                  <a:srgbClr val="FFC000"/>
                </a:solidFill>
              </a:rPr>
            </a:br>
            <a:r>
              <a:rPr lang="en-IN" dirty="0">
                <a:solidFill>
                  <a:srgbClr val="FFC000"/>
                </a:solidFill>
              </a:rPr>
              <a:t>FROM appointments a</a:t>
            </a:r>
            <a:br>
              <a:rPr lang="en-IN" dirty="0">
                <a:solidFill>
                  <a:srgbClr val="FFC000"/>
                </a:solidFill>
              </a:rPr>
            </a:br>
            <a:r>
              <a:rPr lang="en-IN" dirty="0">
                <a:solidFill>
                  <a:srgbClr val="FFC000"/>
                </a:solidFill>
              </a:rPr>
              <a:t>JOIN doctors d ON </a:t>
            </a:r>
            <a:r>
              <a:rPr lang="en-IN" dirty="0" err="1">
                <a:solidFill>
                  <a:srgbClr val="FFC000"/>
                </a:solidFill>
              </a:rPr>
              <a:t>a.doctor_id</a:t>
            </a:r>
            <a:r>
              <a:rPr lang="en-IN" dirty="0">
                <a:solidFill>
                  <a:srgbClr val="FFC000"/>
                </a:solidFill>
              </a:rPr>
              <a:t> = d.id;</a:t>
            </a:r>
          </a:p>
        </p:txBody>
      </p:sp>
      <p:sp>
        <p:nvSpPr>
          <p:cNvPr id="15" name="TextBox 14">
            <a:extLst>
              <a:ext uri="{FF2B5EF4-FFF2-40B4-BE49-F238E27FC236}">
                <a16:creationId xmlns:a16="http://schemas.microsoft.com/office/drawing/2014/main" id="{88AFBBDD-6314-EA93-7560-6458F26186EF}"/>
              </a:ext>
            </a:extLst>
          </p:cNvPr>
          <p:cNvSpPr txBox="1"/>
          <p:nvPr/>
        </p:nvSpPr>
        <p:spPr>
          <a:xfrm>
            <a:off x="1238492" y="3368781"/>
            <a:ext cx="7315200" cy="2062103"/>
          </a:xfrm>
          <a:prstGeom prst="rect">
            <a:avLst/>
          </a:prstGeom>
          <a:noFill/>
        </p:spPr>
        <p:txBody>
          <a:bodyPr wrap="square">
            <a:spAutoFit/>
          </a:bodyPr>
          <a:lstStyle/>
          <a:p>
            <a:pPr>
              <a:buNone/>
            </a:pPr>
            <a:r>
              <a:rPr lang="en-US" sz="3200" b="1" dirty="0">
                <a:solidFill>
                  <a:schemeClr val="bg1"/>
                </a:solidFill>
              </a:rPr>
              <a:t>How It Works:</a:t>
            </a:r>
          </a:p>
          <a:p>
            <a:pPr lvl="1">
              <a:buFont typeface="Arial" panose="020B0604020202020204" pitchFamily="34" charset="0"/>
              <a:buChar char="•"/>
            </a:pPr>
            <a:r>
              <a:rPr lang="en-US" sz="2400" dirty="0">
                <a:solidFill>
                  <a:schemeClr val="bg1"/>
                </a:solidFill>
              </a:rPr>
              <a:t> Combines </a:t>
            </a:r>
            <a:r>
              <a:rPr lang="en-US" sz="2400" b="1" dirty="0">
                <a:solidFill>
                  <a:schemeClr val="bg1"/>
                </a:solidFill>
              </a:rPr>
              <a:t>appointments</a:t>
            </a:r>
            <a:r>
              <a:rPr lang="en-US" sz="2400" dirty="0">
                <a:solidFill>
                  <a:schemeClr val="bg1"/>
                </a:solidFill>
              </a:rPr>
              <a:t> and </a:t>
            </a:r>
            <a:r>
              <a:rPr lang="en-US" sz="2400" b="1" dirty="0">
                <a:solidFill>
                  <a:schemeClr val="bg1"/>
                </a:solidFill>
              </a:rPr>
              <a:t>doctors</a:t>
            </a:r>
            <a:r>
              <a:rPr lang="en-US" sz="2400" dirty="0">
                <a:solidFill>
                  <a:schemeClr val="bg1"/>
                </a:solidFill>
              </a:rPr>
              <a:t> tables </a:t>
            </a:r>
          </a:p>
          <a:p>
            <a:pPr lvl="1">
              <a:buFont typeface="Arial" panose="020B0604020202020204" pitchFamily="34" charset="0"/>
              <a:buChar char="•"/>
            </a:pPr>
            <a:r>
              <a:rPr lang="en-US" sz="2400" dirty="0">
                <a:solidFill>
                  <a:schemeClr val="bg1"/>
                </a:solidFill>
              </a:rPr>
              <a:t> Uses condition:</a:t>
            </a:r>
            <a:br>
              <a:rPr lang="en-US" sz="2400" dirty="0">
                <a:solidFill>
                  <a:schemeClr val="bg1"/>
                </a:solidFill>
              </a:rPr>
            </a:br>
            <a:r>
              <a:rPr lang="en-US" sz="2400" dirty="0">
                <a:solidFill>
                  <a:schemeClr val="bg1"/>
                </a:solidFill>
              </a:rPr>
              <a:t>	</a:t>
            </a:r>
            <a:r>
              <a:rPr lang="en-US" sz="2400" dirty="0" err="1">
                <a:solidFill>
                  <a:schemeClr val="bg1"/>
                </a:solidFill>
                <a:latin typeface="Courier New" panose="02070309020205020404" pitchFamily="49" charset="0"/>
              </a:rPr>
              <a:t>doctor_id</a:t>
            </a:r>
            <a:r>
              <a:rPr lang="en-US" sz="2400" dirty="0">
                <a:solidFill>
                  <a:schemeClr val="bg1"/>
                </a:solidFill>
                <a:latin typeface="Courier New" panose="02070309020205020404" pitchFamily="49" charset="0"/>
              </a:rPr>
              <a:t> = id</a:t>
            </a:r>
            <a:r>
              <a:rPr lang="en-US" sz="2400" dirty="0">
                <a:solidFill>
                  <a:schemeClr val="bg1"/>
                </a:solidFill>
              </a:rPr>
              <a:t> </a:t>
            </a:r>
          </a:p>
          <a:p>
            <a:pPr lvl="1">
              <a:buFont typeface="Arial" panose="020B0604020202020204" pitchFamily="34" charset="0"/>
              <a:buChar char="•"/>
            </a:pPr>
            <a:r>
              <a:rPr lang="en-US" sz="2400" dirty="0">
                <a:solidFill>
                  <a:schemeClr val="bg1"/>
                </a:solidFill>
              </a:rPr>
              <a:t>Fetches complete data in </a:t>
            </a:r>
            <a:r>
              <a:rPr lang="en-US" sz="2400" b="1" dirty="0">
                <a:solidFill>
                  <a:schemeClr val="bg1"/>
                </a:solidFill>
              </a:rPr>
              <a:t>one query</a:t>
            </a:r>
            <a:endParaRPr lang="en-US" sz="2400" dirty="0">
              <a:solidFill>
                <a:schemeClr val="bg1"/>
              </a:solidFill>
            </a:endParaRPr>
          </a:p>
        </p:txBody>
      </p:sp>
      <p:sp>
        <p:nvSpPr>
          <p:cNvPr id="19" name="Arrow: Pentagon 18">
            <a:extLst>
              <a:ext uri="{FF2B5EF4-FFF2-40B4-BE49-F238E27FC236}">
                <a16:creationId xmlns:a16="http://schemas.microsoft.com/office/drawing/2014/main" id="{3EA7DBD2-51CA-0F68-715C-5CAB5988E50C}"/>
              </a:ext>
            </a:extLst>
          </p:cNvPr>
          <p:cNvSpPr/>
          <p:nvPr/>
        </p:nvSpPr>
        <p:spPr>
          <a:xfrm>
            <a:off x="706058" y="3553428"/>
            <a:ext cx="439837" cy="254643"/>
          </a:xfrm>
          <a:prstGeom prst="homePlat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1" name="TextBox 20">
            <a:extLst>
              <a:ext uri="{FF2B5EF4-FFF2-40B4-BE49-F238E27FC236}">
                <a16:creationId xmlns:a16="http://schemas.microsoft.com/office/drawing/2014/main" id="{82A204FB-B3F8-1B42-17DC-CFB2B36BB9CB}"/>
              </a:ext>
            </a:extLst>
          </p:cNvPr>
          <p:cNvSpPr txBox="1"/>
          <p:nvPr/>
        </p:nvSpPr>
        <p:spPr>
          <a:xfrm>
            <a:off x="9769032" y="3729828"/>
            <a:ext cx="4071637" cy="1938992"/>
          </a:xfrm>
          <a:prstGeom prst="rect">
            <a:avLst/>
          </a:prstGeom>
          <a:noFill/>
        </p:spPr>
        <p:txBody>
          <a:bodyPr wrap="square">
            <a:spAutoFit/>
          </a:bodyPr>
          <a:lstStyle/>
          <a:p>
            <a:r>
              <a:rPr lang="en-US" sz="2400" dirty="0">
                <a:solidFill>
                  <a:schemeClr val="bg1"/>
                </a:solidFill>
              </a:rPr>
              <a:t>appointments (patient data)</a:t>
            </a:r>
            <a:br>
              <a:rPr lang="en-US" sz="2400" dirty="0">
                <a:solidFill>
                  <a:schemeClr val="bg1"/>
                </a:solidFill>
              </a:rPr>
            </a:br>
            <a:r>
              <a:rPr lang="en-US" sz="2400" dirty="0">
                <a:solidFill>
                  <a:schemeClr val="bg1"/>
                </a:solidFill>
              </a:rPr>
              <a:t>	     +</a:t>
            </a:r>
            <a:br>
              <a:rPr lang="en-US" sz="2400" dirty="0">
                <a:solidFill>
                  <a:schemeClr val="bg1"/>
                </a:solidFill>
              </a:rPr>
            </a:br>
            <a:r>
              <a:rPr lang="en-US" sz="2400" dirty="0">
                <a:solidFill>
                  <a:schemeClr val="bg1"/>
                </a:solidFill>
              </a:rPr>
              <a:t>doctors (doctor details)</a:t>
            </a:r>
            <a:br>
              <a:rPr lang="en-US" sz="2400" dirty="0">
                <a:solidFill>
                  <a:schemeClr val="bg1"/>
                </a:solidFill>
              </a:rPr>
            </a:br>
            <a:r>
              <a:rPr lang="en-US" sz="2400" dirty="0">
                <a:solidFill>
                  <a:schemeClr val="bg1"/>
                </a:solidFill>
              </a:rPr>
              <a:t>	    ↓</a:t>
            </a:r>
            <a:br>
              <a:rPr lang="en-US" sz="2400" dirty="0">
                <a:solidFill>
                  <a:schemeClr val="bg1"/>
                </a:solidFill>
              </a:rPr>
            </a:br>
            <a:r>
              <a:rPr lang="en-US" sz="2400" dirty="0">
                <a:solidFill>
                  <a:schemeClr val="bg1"/>
                </a:solidFill>
              </a:rPr>
              <a:t>Combined Result</a:t>
            </a:r>
            <a:endParaRPr lang="en-IN" sz="2400" dirty="0">
              <a:solidFill>
                <a:schemeClr val="bg1"/>
              </a:solidFill>
            </a:endParaRPr>
          </a:p>
        </p:txBody>
      </p:sp>
      <p:sp>
        <p:nvSpPr>
          <p:cNvPr id="24" name="TextBox 23">
            <a:extLst>
              <a:ext uri="{FF2B5EF4-FFF2-40B4-BE49-F238E27FC236}">
                <a16:creationId xmlns:a16="http://schemas.microsoft.com/office/drawing/2014/main" id="{6DF79AF7-79BF-3AA0-103E-B96775A8AA0B}"/>
              </a:ext>
            </a:extLst>
          </p:cNvPr>
          <p:cNvSpPr txBox="1"/>
          <p:nvPr/>
        </p:nvSpPr>
        <p:spPr>
          <a:xfrm>
            <a:off x="1238492" y="5741983"/>
            <a:ext cx="7315200" cy="1692771"/>
          </a:xfrm>
          <a:prstGeom prst="rect">
            <a:avLst/>
          </a:prstGeom>
          <a:noFill/>
        </p:spPr>
        <p:txBody>
          <a:bodyPr wrap="square">
            <a:spAutoFit/>
          </a:bodyPr>
          <a:lstStyle/>
          <a:p>
            <a:pPr>
              <a:buNone/>
            </a:pPr>
            <a:r>
              <a:rPr lang="en-US" sz="3200" b="1" dirty="0">
                <a:solidFill>
                  <a:schemeClr val="bg1"/>
                </a:solidFill>
              </a:rPr>
              <a:t>Why Used:</a:t>
            </a:r>
          </a:p>
          <a:p>
            <a:pPr lvl="1">
              <a:buFont typeface="Arial" panose="020B0604020202020204" pitchFamily="34" charset="0"/>
              <a:buChar char="•"/>
            </a:pPr>
            <a:r>
              <a:rPr lang="en-US" sz="2400" dirty="0">
                <a:solidFill>
                  <a:schemeClr val="bg1"/>
                </a:solidFill>
              </a:rPr>
              <a:t> Avoids multiple queries </a:t>
            </a:r>
          </a:p>
          <a:p>
            <a:pPr lvl="1">
              <a:buFont typeface="Arial" panose="020B0604020202020204" pitchFamily="34" charset="0"/>
              <a:buChar char="•"/>
            </a:pPr>
            <a:r>
              <a:rPr lang="en-US" sz="2400" dirty="0">
                <a:solidFill>
                  <a:schemeClr val="bg1"/>
                </a:solidFill>
              </a:rPr>
              <a:t> Improves performance </a:t>
            </a:r>
          </a:p>
          <a:p>
            <a:pPr lvl="1">
              <a:buFont typeface="Arial" panose="020B0604020202020204" pitchFamily="34" charset="0"/>
              <a:buChar char="•"/>
            </a:pPr>
            <a:r>
              <a:rPr lang="en-US" sz="2400" dirty="0">
                <a:solidFill>
                  <a:schemeClr val="bg1"/>
                </a:solidFill>
              </a:rPr>
              <a:t> Shows complete appointment info</a:t>
            </a:r>
          </a:p>
        </p:txBody>
      </p:sp>
      <p:sp>
        <p:nvSpPr>
          <p:cNvPr id="25" name="Arrow: Pentagon 24">
            <a:extLst>
              <a:ext uri="{FF2B5EF4-FFF2-40B4-BE49-F238E27FC236}">
                <a16:creationId xmlns:a16="http://schemas.microsoft.com/office/drawing/2014/main" id="{240EF51C-77C4-08E8-B9DD-B62848E60A16}"/>
              </a:ext>
            </a:extLst>
          </p:cNvPr>
          <p:cNvSpPr/>
          <p:nvPr/>
        </p:nvSpPr>
        <p:spPr>
          <a:xfrm>
            <a:off x="706057" y="5926239"/>
            <a:ext cx="439837" cy="254643"/>
          </a:xfrm>
          <a:prstGeom prst="homePlat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84768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2">
            <a:extLst>
              <a:ext uri="{FF2B5EF4-FFF2-40B4-BE49-F238E27FC236}">
                <a16:creationId xmlns:a16="http://schemas.microsoft.com/office/drawing/2014/main" id="{C53E6162-750F-1FE7-221A-15B0720B6EBF}"/>
              </a:ext>
            </a:extLst>
          </p:cNvPr>
          <p:cNvSpPr/>
          <p:nvPr/>
        </p:nvSpPr>
        <p:spPr>
          <a:xfrm>
            <a:off x="266218" y="2447133"/>
            <a:ext cx="6917144" cy="4989603"/>
          </a:xfrm>
          <a:prstGeom prst="roundRect">
            <a:avLst>
              <a:gd name="adj" fmla="val 757"/>
            </a:avLst>
          </a:prstGeom>
          <a:solidFill>
            <a:srgbClr val="2B2952"/>
          </a:solidFill>
          <a:ln/>
        </p:spPr>
        <p:txBody>
          <a:bodyPr/>
          <a:lstStyle/>
          <a:p>
            <a:endParaRPr lang="en-IN" dirty="0"/>
          </a:p>
        </p:txBody>
      </p:sp>
      <p:pic>
        <p:nvPicPr>
          <p:cNvPr id="5" name="Picture 4">
            <a:extLst>
              <a:ext uri="{FF2B5EF4-FFF2-40B4-BE49-F238E27FC236}">
                <a16:creationId xmlns:a16="http://schemas.microsoft.com/office/drawing/2014/main" id="{621DBC83-1572-106A-C309-FA2CD6626327}"/>
              </a:ext>
            </a:extLst>
          </p:cNvPr>
          <p:cNvPicPr>
            <a:picLocks noChangeAspect="1"/>
          </p:cNvPicPr>
          <p:nvPr/>
        </p:nvPicPr>
        <p:blipFill>
          <a:blip r:embed="rId2"/>
          <a:stretch>
            <a:fillRect/>
          </a:stretch>
        </p:blipFill>
        <p:spPr>
          <a:xfrm>
            <a:off x="12593256" y="7738038"/>
            <a:ext cx="1979271" cy="485775"/>
          </a:xfrm>
          <a:prstGeom prst="rect">
            <a:avLst/>
          </a:prstGeom>
        </p:spPr>
      </p:pic>
      <p:sp>
        <p:nvSpPr>
          <p:cNvPr id="6" name="Arrow: Striped Right 5">
            <a:extLst>
              <a:ext uri="{FF2B5EF4-FFF2-40B4-BE49-F238E27FC236}">
                <a16:creationId xmlns:a16="http://schemas.microsoft.com/office/drawing/2014/main" id="{66CD5BD8-F92B-3ABF-5AAD-A96AEB4CC932}"/>
              </a:ext>
            </a:extLst>
          </p:cNvPr>
          <p:cNvSpPr/>
          <p:nvPr/>
        </p:nvSpPr>
        <p:spPr>
          <a:xfrm>
            <a:off x="567160" y="792864"/>
            <a:ext cx="706056" cy="636608"/>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517C7D48-8EFC-8D43-4C9D-FA4C30762287}"/>
              </a:ext>
            </a:extLst>
          </p:cNvPr>
          <p:cNvSpPr txBox="1"/>
          <p:nvPr/>
        </p:nvSpPr>
        <p:spPr>
          <a:xfrm>
            <a:off x="1273216" y="757225"/>
            <a:ext cx="7315200" cy="707886"/>
          </a:xfrm>
          <a:prstGeom prst="rect">
            <a:avLst/>
          </a:prstGeom>
          <a:noFill/>
        </p:spPr>
        <p:txBody>
          <a:bodyPr wrap="square">
            <a:spAutoFit/>
          </a:bodyPr>
          <a:lstStyle/>
          <a:p>
            <a:r>
              <a:rPr lang="en-US" sz="4000" dirty="0">
                <a:solidFill>
                  <a:schemeClr val="bg1"/>
                </a:solidFill>
              </a:rPr>
              <a:t>What is ENUM in MySQL?</a:t>
            </a:r>
            <a:endParaRPr lang="en-IN" sz="4000" dirty="0">
              <a:solidFill>
                <a:schemeClr val="bg1"/>
              </a:solidFill>
            </a:endParaRPr>
          </a:p>
        </p:txBody>
      </p:sp>
      <p:sp>
        <p:nvSpPr>
          <p:cNvPr id="12" name="TextBox 11">
            <a:extLst>
              <a:ext uri="{FF2B5EF4-FFF2-40B4-BE49-F238E27FC236}">
                <a16:creationId xmlns:a16="http://schemas.microsoft.com/office/drawing/2014/main" id="{FA7A95DC-30BA-BD0D-91E5-4B154B88CFFD}"/>
              </a:ext>
            </a:extLst>
          </p:cNvPr>
          <p:cNvSpPr txBox="1"/>
          <p:nvPr/>
        </p:nvSpPr>
        <p:spPr>
          <a:xfrm>
            <a:off x="1666755" y="1494974"/>
            <a:ext cx="11389488" cy="461665"/>
          </a:xfrm>
          <a:prstGeom prst="rect">
            <a:avLst/>
          </a:prstGeom>
          <a:noFill/>
        </p:spPr>
        <p:txBody>
          <a:bodyPr wrap="square">
            <a:spAutoFit/>
          </a:bodyPr>
          <a:lstStyle/>
          <a:p>
            <a:r>
              <a:rPr lang="en-US" sz="2400" b="1" dirty="0">
                <a:solidFill>
                  <a:schemeClr val="bg1"/>
                </a:solidFill>
              </a:rPr>
              <a:t>ENUM </a:t>
            </a:r>
            <a:r>
              <a:rPr lang="en-US" sz="2400" dirty="0">
                <a:solidFill>
                  <a:schemeClr val="bg1"/>
                </a:solidFill>
              </a:rPr>
              <a:t> is a data type that allows a column to store </a:t>
            </a:r>
            <a:r>
              <a:rPr lang="en-US" sz="2400" b="1" dirty="0">
                <a:solidFill>
                  <a:schemeClr val="bg1"/>
                </a:solidFill>
              </a:rPr>
              <a:t>only one value from a predefined list</a:t>
            </a:r>
            <a:r>
              <a:rPr lang="en-US" sz="2400" dirty="0">
                <a:solidFill>
                  <a:schemeClr val="bg1"/>
                </a:solidFill>
              </a:rPr>
              <a:t>.</a:t>
            </a:r>
            <a:endParaRPr lang="en-IN" sz="2400" dirty="0">
              <a:solidFill>
                <a:schemeClr val="bg1"/>
              </a:solidFill>
            </a:endParaRPr>
          </a:p>
        </p:txBody>
      </p:sp>
      <p:sp>
        <p:nvSpPr>
          <p:cNvPr id="14" name="TextBox 13">
            <a:extLst>
              <a:ext uri="{FF2B5EF4-FFF2-40B4-BE49-F238E27FC236}">
                <a16:creationId xmlns:a16="http://schemas.microsoft.com/office/drawing/2014/main" id="{827BB4A4-7DC5-9998-4937-FF3344F88308}"/>
              </a:ext>
            </a:extLst>
          </p:cNvPr>
          <p:cNvSpPr txBox="1"/>
          <p:nvPr/>
        </p:nvSpPr>
        <p:spPr>
          <a:xfrm>
            <a:off x="709585" y="2465388"/>
            <a:ext cx="6354499" cy="4524315"/>
          </a:xfrm>
          <a:prstGeom prst="rect">
            <a:avLst/>
          </a:prstGeom>
          <a:noFill/>
        </p:spPr>
        <p:txBody>
          <a:bodyPr wrap="square">
            <a:spAutoFit/>
          </a:bodyPr>
          <a:lstStyle/>
          <a:p>
            <a:r>
              <a:rPr lang="en-IN" sz="2800" b="1" dirty="0">
                <a:solidFill>
                  <a:schemeClr val="bg1"/>
                </a:solidFill>
              </a:rPr>
              <a:t>ENUM in Database :</a:t>
            </a:r>
          </a:p>
          <a:p>
            <a:pPr rtl="0">
              <a:buNone/>
            </a:pPr>
            <a:r>
              <a:rPr lang="en-IN" sz="2000" dirty="0">
                <a:solidFill>
                  <a:schemeClr val="bg1"/>
                </a:solidFill>
                <a:latin typeface="Courier New" panose="02070309020205020404" pitchFamily="49" charset="0"/>
              </a:rPr>
              <a:t>	</a:t>
            </a:r>
            <a:r>
              <a:rPr lang="en-IN" sz="2000" dirty="0">
                <a:solidFill>
                  <a:srgbClr val="FFC000"/>
                </a:solidFill>
                <a:latin typeface="Courier New" panose="02070309020205020404" pitchFamily="49" charset="0"/>
              </a:rPr>
              <a:t>status ENUM('Pending', 'Approved', 'Completed', 'Cancelled') DEFAULT 'Pending’</a:t>
            </a:r>
          </a:p>
          <a:p>
            <a:pPr rtl="0">
              <a:buNone/>
            </a:pPr>
            <a:r>
              <a:rPr lang="en-IN" sz="2000" dirty="0">
                <a:solidFill>
                  <a:schemeClr val="bg1"/>
                </a:solidFill>
              </a:rPr>
              <a:t> This means:</a:t>
            </a:r>
          </a:p>
          <a:p>
            <a:pPr rtl="0">
              <a:buNone/>
            </a:pPr>
            <a:endParaRPr lang="en-IN" sz="2000" dirty="0">
              <a:solidFill>
                <a:schemeClr val="bg1"/>
              </a:solidFill>
            </a:endParaRPr>
          </a:p>
          <a:p>
            <a:pPr>
              <a:buFont typeface="Arial" panose="020B0604020202020204" pitchFamily="34" charset="0"/>
              <a:buChar char="•"/>
            </a:pPr>
            <a:r>
              <a:rPr lang="en-IN" sz="2000" dirty="0">
                <a:solidFill>
                  <a:schemeClr val="bg1"/>
                </a:solidFill>
              </a:rPr>
              <a:t>The </a:t>
            </a:r>
            <a:r>
              <a:rPr lang="en-IN" sz="2000" dirty="0">
                <a:solidFill>
                  <a:schemeClr val="bg1"/>
                </a:solidFill>
                <a:latin typeface="Courier New" panose="02070309020205020404" pitchFamily="49" charset="0"/>
              </a:rPr>
              <a:t>status</a:t>
            </a:r>
            <a:r>
              <a:rPr lang="en-IN" sz="2000" dirty="0">
                <a:solidFill>
                  <a:schemeClr val="bg1"/>
                </a:solidFill>
              </a:rPr>
              <a:t> column can store </a:t>
            </a:r>
            <a:r>
              <a:rPr lang="en-IN" sz="2000" b="1" dirty="0">
                <a:solidFill>
                  <a:schemeClr val="bg1"/>
                </a:solidFill>
              </a:rPr>
              <a:t>only 4 values</a:t>
            </a:r>
            <a:r>
              <a:rPr lang="en-IN" sz="2000" dirty="0">
                <a:solidFill>
                  <a:schemeClr val="bg1"/>
                </a:solidFill>
              </a:rPr>
              <a:t>: </a:t>
            </a:r>
          </a:p>
          <a:p>
            <a:pPr marL="742950" lvl="1" indent="-285750">
              <a:buFont typeface="Arial" panose="020B0604020202020204" pitchFamily="34" charset="0"/>
              <a:buChar char="•"/>
            </a:pPr>
            <a:r>
              <a:rPr lang="en-IN" sz="2000" dirty="0">
                <a:solidFill>
                  <a:schemeClr val="bg1"/>
                </a:solidFill>
              </a:rPr>
              <a:t>Pending </a:t>
            </a:r>
          </a:p>
          <a:p>
            <a:pPr marL="742950" lvl="1" indent="-285750">
              <a:buFont typeface="Arial" panose="020B0604020202020204" pitchFamily="34" charset="0"/>
              <a:buChar char="•"/>
            </a:pPr>
            <a:r>
              <a:rPr lang="en-IN" sz="2000" dirty="0">
                <a:solidFill>
                  <a:schemeClr val="bg1"/>
                </a:solidFill>
              </a:rPr>
              <a:t>Approved </a:t>
            </a:r>
          </a:p>
          <a:p>
            <a:pPr marL="742950" lvl="1" indent="-285750">
              <a:buFont typeface="Arial" panose="020B0604020202020204" pitchFamily="34" charset="0"/>
              <a:buChar char="•"/>
            </a:pPr>
            <a:r>
              <a:rPr lang="en-IN" sz="2000" dirty="0">
                <a:solidFill>
                  <a:schemeClr val="bg1"/>
                </a:solidFill>
              </a:rPr>
              <a:t>Completed </a:t>
            </a:r>
          </a:p>
          <a:p>
            <a:pPr marL="742950" lvl="1" indent="-285750">
              <a:buFont typeface="Arial" panose="020B0604020202020204" pitchFamily="34" charset="0"/>
              <a:buChar char="•"/>
            </a:pPr>
            <a:r>
              <a:rPr lang="en-IN" sz="2000" dirty="0">
                <a:solidFill>
                  <a:schemeClr val="bg1"/>
                </a:solidFill>
              </a:rPr>
              <a:t>Cancelled </a:t>
            </a:r>
          </a:p>
          <a:p>
            <a:pPr lvl="1"/>
            <a:endParaRPr lang="en-IN" sz="2000" dirty="0">
              <a:solidFill>
                <a:schemeClr val="bg1"/>
              </a:solidFill>
            </a:endParaRPr>
          </a:p>
          <a:p>
            <a:pPr>
              <a:buNone/>
            </a:pPr>
            <a:r>
              <a:rPr lang="en-IN" sz="2000" dirty="0">
                <a:solidFill>
                  <a:schemeClr val="bg1"/>
                </a:solidFill>
              </a:rPr>
              <a:t>Default value:</a:t>
            </a:r>
          </a:p>
          <a:p>
            <a:pPr lvl="1">
              <a:buFont typeface="Arial" panose="020B0604020202020204" pitchFamily="34" charset="0"/>
              <a:buChar char="•"/>
            </a:pPr>
            <a:r>
              <a:rPr lang="en-IN" sz="2000" dirty="0">
                <a:solidFill>
                  <a:schemeClr val="bg1"/>
                </a:solidFill>
              </a:rPr>
              <a:t>If no value is given → </a:t>
            </a:r>
            <a:r>
              <a:rPr lang="en-IN" sz="2000" dirty="0">
                <a:solidFill>
                  <a:schemeClr val="bg1"/>
                </a:solidFill>
                <a:latin typeface="Courier New" panose="02070309020205020404" pitchFamily="49" charset="0"/>
              </a:rPr>
              <a:t>Pending</a:t>
            </a:r>
            <a:endParaRPr lang="en-IN" sz="2000" dirty="0">
              <a:solidFill>
                <a:schemeClr val="bg1"/>
              </a:solidFill>
            </a:endParaRPr>
          </a:p>
        </p:txBody>
      </p:sp>
      <p:sp>
        <p:nvSpPr>
          <p:cNvPr id="15" name="Arrow: Right 14">
            <a:extLst>
              <a:ext uri="{FF2B5EF4-FFF2-40B4-BE49-F238E27FC236}">
                <a16:creationId xmlns:a16="http://schemas.microsoft.com/office/drawing/2014/main" id="{9684F851-FFF1-F8DF-1ED4-68CF235E2C6C}"/>
              </a:ext>
            </a:extLst>
          </p:cNvPr>
          <p:cNvSpPr/>
          <p:nvPr/>
        </p:nvSpPr>
        <p:spPr>
          <a:xfrm>
            <a:off x="420218" y="2535809"/>
            <a:ext cx="289367" cy="3819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Shape 2">
            <a:extLst>
              <a:ext uri="{FF2B5EF4-FFF2-40B4-BE49-F238E27FC236}">
                <a16:creationId xmlns:a16="http://schemas.microsoft.com/office/drawing/2014/main" id="{EF9B5A58-834C-7926-A64D-9A70334F9BD6}"/>
              </a:ext>
            </a:extLst>
          </p:cNvPr>
          <p:cNvSpPr/>
          <p:nvPr/>
        </p:nvSpPr>
        <p:spPr>
          <a:xfrm>
            <a:off x="7472729" y="2441285"/>
            <a:ext cx="6917144" cy="4989603"/>
          </a:xfrm>
          <a:prstGeom prst="roundRect">
            <a:avLst>
              <a:gd name="adj" fmla="val 757"/>
            </a:avLst>
          </a:prstGeom>
          <a:solidFill>
            <a:srgbClr val="2B2952"/>
          </a:solidFill>
          <a:ln/>
        </p:spPr>
        <p:txBody>
          <a:bodyPr/>
          <a:lstStyle/>
          <a:p>
            <a:r>
              <a:rPr lang="en-IN" sz="2800" b="1" dirty="0">
                <a:solidFill>
                  <a:schemeClr val="bg1"/>
                </a:solidFill>
              </a:rPr>
              <a:t>     Purpose:</a:t>
            </a:r>
          </a:p>
          <a:p>
            <a:pPr marL="914400" lvl="1" indent="-457200">
              <a:buFont typeface="Arial" panose="020B0604020202020204" pitchFamily="34" charset="0"/>
              <a:buChar char="•"/>
            </a:pPr>
            <a:r>
              <a:rPr lang="en-IN" sz="2400" dirty="0">
                <a:solidFill>
                  <a:schemeClr val="bg1"/>
                </a:solidFill>
              </a:rPr>
              <a:t>Restricts status to valid options </a:t>
            </a:r>
          </a:p>
          <a:p>
            <a:pPr marL="914400" lvl="1" indent="-457200">
              <a:buFont typeface="Arial" panose="020B0604020202020204" pitchFamily="34" charset="0"/>
              <a:buChar char="•"/>
            </a:pPr>
            <a:r>
              <a:rPr lang="en-IN" sz="2400" dirty="0">
                <a:solidFill>
                  <a:schemeClr val="bg1"/>
                </a:solidFill>
              </a:rPr>
              <a:t>Maintains data consistency </a:t>
            </a:r>
          </a:p>
          <a:p>
            <a:pPr marL="914400" lvl="1" indent="-457200">
              <a:buFont typeface="Arial" panose="020B0604020202020204" pitchFamily="34" charset="0"/>
              <a:buChar char="•"/>
            </a:pPr>
            <a:r>
              <a:rPr lang="en-IN" sz="2400" dirty="0">
                <a:solidFill>
                  <a:schemeClr val="bg1"/>
                </a:solidFill>
              </a:rPr>
              <a:t>Prevents invalid entries </a:t>
            </a:r>
          </a:p>
          <a:p>
            <a:br>
              <a:rPr lang="en-IN" sz="2800" dirty="0">
                <a:solidFill>
                  <a:schemeClr val="bg1"/>
                </a:solidFill>
              </a:rPr>
            </a:br>
            <a:endParaRPr lang="en-IN" sz="2800" dirty="0">
              <a:solidFill>
                <a:schemeClr val="bg1"/>
              </a:solidFill>
            </a:endParaRPr>
          </a:p>
          <a:p>
            <a:r>
              <a:rPr lang="en-IN" sz="2800" b="1" dirty="0">
                <a:solidFill>
                  <a:schemeClr val="bg1"/>
                </a:solidFill>
              </a:rPr>
              <a:t>     Advantages:</a:t>
            </a:r>
          </a:p>
          <a:p>
            <a:pPr marL="914400" lvl="1" indent="-457200">
              <a:buFont typeface="Arial" panose="020B0604020202020204" pitchFamily="34" charset="0"/>
              <a:buChar char="•"/>
            </a:pPr>
            <a:r>
              <a:rPr lang="en-IN" sz="2400" dirty="0">
                <a:solidFill>
                  <a:schemeClr val="bg1"/>
                </a:solidFill>
              </a:rPr>
              <a:t>Saves storage (stored as index) </a:t>
            </a:r>
          </a:p>
          <a:p>
            <a:pPr marL="914400" lvl="1" indent="-457200">
              <a:buFont typeface="Arial" panose="020B0604020202020204" pitchFamily="34" charset="0"/>
              <a:buChar char="•"/>
            </a:pPr>
            <a:r>
              <a:rPr lang="en-IN" sz="2400" dirty="0">
                <a:solidFill>
                  <a:schemeClr val="bg1"/>
                </a:solidFill>
              </a:rPr>
              <a:t>Easy filtering using SQL </a:t>
            </a:r>
          </a:p>
          <a:p>
            <a:pPr marL="914400" lvl="1" indent="-457200">
              <a:buFont typeface="Arial" panose="020B0604020202020204" pitchFamily="34" charset="0"/>
              <a:buChar char="•"/>
            </a:pPr>
            <a:r>
              <a:rPr lang="en-IN" sz="2400" dirty="0">
                <a:solidFill>
                  <a:schemeClr val="bg1"/>
                </a:solidFill>
              </a:rPr>
              <a:t>Represents real workflow</a:t>
            </a:r>
          </a:p>
        </p:txBody>
      </p:sp>
      <p:sp>
        <p:nvSpPr>
          <p:cNvPr id="19" name="Arrow: Right 18">
            <a:extLst>
              <a:ext uri="{FF2B5EF4-FFF2-40B4-BE49-F238E27FC236}">
                <a16:creationId xmlns:a16="http://schemas.microsoft.com/office/drawing/2014/main" id="{F45469E1-F800-E4AA-DB92-FCC58A972001}"/>
              </a:ext>
            </a:extLst>
          </p:cNvPr>
          <p:cNvSpPr/>
          <p:nvPr/>
        </p:nvSpPr>
        <p:spPr>
          <a:xfrm>
            <a:off x="7626729" y="2535809"/>
            <a:ext cx="289367" cy="3819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61886CB6-671A-1BD4-D354-E48F2F4DC98C}"/>
              </a:ext>
            </a:extLst>
          </p:cNvPr>
          <p:cNvSpPr/>
          <p:nvPr/>
        </p:nvSpPr>
        <p:spPr>
          <a:xfrm>
            <a:off x="7626729" y="4899237"/>
            <a:ext cx="289367" cy="3819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8574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4746" y="668417"/>
            <a:ext cx="9705023" cy="693063"/>
          </a:xfrm>
          <a:prstGeom prst="rect">
            <a:avLst/>
          </a:prstGeom>
          <a:noFill/>
          <a:ln/>
        </p:spPr>
        <p:txBody>
          <a:bodyPr wrap="none" lIns="0" tIns="0" rIns="0" bIns="0" rtlCol="0" anchor="t"/>
          <a:lstStyle/>
          <a:p>
            <a:pPr marL="0" indent="0" algn="l">
              <a:lnSpc>
                <a:spcPts val="5450"/>
              </a:lnSpc>
              <a:buNone/>
            </a:pPr>
            <a:r>
              <a:rPr lang="en-US" sz="4350" b="1" dirty="0">
                <a:solidFill>
                  <a:srgbClr val="FFFFFF"/>
                </a:solidFill>
                <a:latin typeface="Arial" panose="020B0604020202020204" pitchFamily="34" charset="0"/>
                <a:ea typeface="Syne Bold" pitchFamily="34" charset="-122"/>
                <a:cs typeface="Arial" panose="020B0604020202020204" pitchFamily="34" charset="0"/>
              </a:rPr>
              <a:t>Data Flow: Status Management</a:t>
            </a:r>
            <a:endParaRPr lang="en-US" sz="4350" dirty="0">
              <a:latin typeface="Arial" panose="020B0604020202020204" pitchFamily="34" charset="0"/>
              <a:cs typeface="Arial" panose="020B0604020202020204" pitchFamily="34" charset="0"/>
            </a:endParaRPr>
          </a:p>
        </p:txBody>
      </p:sp>
      <p:sp>
        <p:nvSpPr>
          <p:cNvPr id="3" name="Shape 1"/>
          <p:cNvSpPr/>
          <p:nvPr/>
        </p:nvSpPr>
        <p:spPr>
          <a:xfrm>
            <a:off x="824746" y="4001810"/>
            <a:ext cx="12980908" cy="30480"/>
          </a:xfrm>
          <a:prstGeom prst="roundRect">
            <a:avLst>
              <a:gd name="adj" fmla="val 115980"/>
            </a:avLst>
          </a:prstGeom>
          <a:solidFill>
            <a:srgbClr val="44426B"/>
          </a:solidFill>
          <a:ln/>
        </p:spPr>
      </p:sp>
      <p:sp>
        <p:nvSpPr>
          <p:cNvPr id="4" name="Shape 2"/>
          <p:cNvSpPr/>
          <p:nvPr/>
        </p:nvSpPr>
        <p:spPr>
          <a:xfrm>
            <a:off x="3318510" y="3294876"/>
            <a:ext cx="30480" cy="706993"/>
          </a:xfrm>
          <a:prstGeom prst="roundRect">
            <a:avLst>
              <a:gd name="adj" fmla="val 115980"/>
            </a:avLst>
          </a:prstGeom>
          <a:solidFill>
            <a:srgbClr val="44426B"/>
          </a:solidFill>
          <a:ln/>
        </p:spPr>
      </p:sp>
      <p:sp>
        <p:nvSpPr>
          <p:cNvPr id="5" name="Shape 3"/>
          <p:cNvSpPr/>
          <p:nvPr/>
        </p:nvSpPr>
        <p:spPr>
          <a:xfrm>
            <a:off x="3068717" y="3736717"/>
            <a:ext cx="530185" cy="530185"/>
          </a:xfrm>
          <a:prstGeom prst="roundRect">
            <a:avLst>
              <a:gd name="adj" fmla="val 6668"/>
            </a:avLst>
          </a:prstGeom>
          <a:solidFill>
            <a:srgbClr val="2B2952"/>
          </a:solidFill>
          <a:ln/>
        </p:spPr>
      </p:sp>
      <p:sp>
        <p:nvSpPr>
          <p:cNvPr id="6" name="Text 4"/>
          <p:cNvSpPr/>
          <p:nvPr/>
        </p:nvSpPr>
        <p:spPr>
          <a:xfrm>
            <a:off x="3167420" y="3793808"/>
            <a:ext cx="332661" cy="415885"/>
          </a:xfrm>
          <a:prstGeom prst="rect">
            <a:avLst/>
          </a:prstGeom>
          <a:noFill/>
          <a:ln/>
        </p:spPr>
        <p:txBody>
          <a:bodyPr wrap="none" lIns="0" tIns="0" rIns="0" bIns="0" rtlCol="0" anchor="t"/>
          <a:lstStyle/>
          <a:p>
            <a:pPr marL="0" indent="0" algn="ctr">
              <a:lnSpc>
                <a:spcPts val="2600"/>
              </a:lnSpc>
              <a:buNone/>
            </a:pPr>
            <a:r>
              <a:rPr lang="en-US" sz="2600" b="1" dirty="0">
                <a:solidFill>
                  <a:srgbClr val="D9E1FF"/>
                </a:solidFill>
                <a:latin typeface="Arial" panose="020B0604020202020204" pitchFamily="34" charset="0"/>
                <a:ea typeface="Syne Bold" pitchFamily="34" charset="-122"/>
                <a:cs typeface="Arial" panose="020B0604020202020204" pitchFamily="34" charset="0"/>
              </a:rPr>
              <a:t>1</a:t>
            </a:r>
            <a:endParaRPr lang="en-US" sz="2600" dirty="0">
              <a:latin typeface="Arial" panose="020B0604020202020204" pitchFamily="34" charset="0"/>
              <a:cs typeface="Arial" panose="020B0604020202020204" pitchFamily="34" charset="0"/>
            </a:endParaRPr>
          </a:p>
        </p:txBody>
      </p:sp>
      <p:sp>
        <p:nvSpPr>
          <p:cNvPr id="7" name="Text 5"/>
          <p:cNvSpPr/>
          <p:nvPr/>
        </p:nvSpPr>
        <p:spPr>
          <a:xfrm>
            <a:off x="1947624" y="1825466"/>
            <a:ext cx="2772489" cy="346591"/>
          </a:xfrm>
          <a:prstGeom prst="rect">
            <a:avLst/>
          </a:prstGeom>
          <a:noFill/>
          <a:ln/>
        </p:spPr>
        <p:txBody>
          <a:bodyPr wrap="none" lIns="0" tIns="0" rIns="0" bIns="0" rtlCol="0" anchor="t"/>
          <a:lstStyle/>
          <a:p>
            <a:pPr marL="0" indent="0" algn="ctr">
              <a:lnSpc>
                <a:spcPts val="2700"/>
              </a:lnSpc>
              <a:buNone/>
            </a:pPr>
            <a:r>
              <a:rPr lang="en-US" sz="2150" b="1" dirty="0">
                <a:solidFill>
                  <a:srgbClr val="D9E1FF"/>
                </a:solidFill>
                <a:latin typeface="Arial" panose="020B0604020202020204" pitchFamily="34" charset="0"/>
                <a:ea typeface="Syne Bold" pitchFamily="34" charset="-122"/>
                <a:cs typeface="Arial" panose="020B0604020202020204" pitchFamily="34" charset="0"/>
              </a:rPr>
              <a:t>Pending</a:t>
            </a:r>
            <a:endParaRPr lang="en-US" sz="2150" dirty="0">
              <a:latin typeface="Arial" panose="020B0604020202020204" pitchFamily="34" charset="0"/>
              <a:cs typeface="Arial" panose="020B0604020202020204" pitchFamily="34" charset="0"/>
            </a:endParaRPr>
          </a:p>
        </p:txBody>
      </p:sp>
      <p:sp>
        <p:nvSpPr>
          <p:cNvPr id="8" name="Text 6"/>
          <p:cNvSpPr/>
          <p:nvPr/>
        </p:nvSpPr>
        <p:spPr>
          <a:xfrm>
            <a:off x="1060371" y="2311241"/>
            <a:ext cx="4547116" cy="747951"/>
          </a:xfrm>
          <a:prstGeom prst="rect">
            <a:avLst/>
          </a:prstGeom>
          <a:noFill/>
          <a:ln/>
        </p:spPr>
        <p:txBody>
          <a:bodyPr wrap="square" lIns="0" tIns="0" rIns="0" bIns="0" rtlCol="0" anchor="t"/>
          <a:lstStyle/>
          <a:p>
            <a:pPr marL="0" indent="0" algn="ctr">
              <a:lnSpc>
                <a:spcPts val="29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Initial booking state when patient submits request</a:t>
            </a:r>
            <a:endParaRPr lang="en-US" sz="1850" dirty="0">
              <a:latin typeface="Arial" panose="020B0604020202020204" pitchFamily="34" charset="0"/>
              <a:cs typeface="Arial" panose="020B0604020202020204" pitchFamily="34" charset="0"/>
            </a:endParaRPr>
          </a:p>
        </p:txBody>
      </p:sp>
      <p:sp>
        <p:nvSpPr>
          <p:cNvPr id="9" name="Shape 7"/>
          <p:cNvSpPr/>
          <p:nvPr/>
        </p:nvSpPr>
        <p:spPr>
          <a:xfrm>
            <a:off x="5972651" y="4001750"/>
            <a:ext cx="30480" cy="706993"/>
          </a:xfrm>
          <a:prstGeom prst="roundRect">
            <a:avLst>
              <a:gd name="adj" fmla="val 115980"/>
            </a:avLst>
          </a:prstGeom>
          <a:solidFill>
            <a:srgbClr val="44426B"/>
          </a:solidFill>
          <a:ln/>
        </p:spPr>
      </p:sp>
      <p:sp>
        <p:nvSpPr>
          <p:cNvPr id="10" name="Shape 8"/>
          <p:cNvSpPr/>
          <p:nvPr/>
        </p:nvSpPr>
        <p:spPr>
          <a:xfrm>
            <a:off x="5722858" y="3736717"/>
            <a:ext cx="530185" cy="530185"/>
          </a:xfrm>
          <a:prstGeom prst="roundRect">
            <a:avLst>
              <a:gd name="adj" fmla="val 6668"/>
            </a:avLst>
          </a:prstGeom>
          <a:solidFill>
            <a:srgbClr val="2B2952"/>
          </a:solidFill>
          <a:ln/>
        </p:spPr>
      </p:sp>
      <p:sp>
        <p:nvSpPr>
          <p:cNvPr id="11" name="Text 9"/>
          <p:cNvSpPr/>
          <p:nvPr/>
        </p:nvSpPr>
        <p:spPr>
          <a:xfrm>
            <a:off x="5821561" y="3793808"/>
            <a:ext cx="332661" cy="415885"/>
          </a:xfrm>
          <a:prstGeom prst="rect">
            <a:avLst/>
          </a:prstGeom>
          <a:noFill/>
          <a:ln/>
        </p:spPr>
        <p:txBody>
          <a:bodyPr wrap="none" lIns="0" tIns="0" rIns="0" bIns="0" rtlCol="0" anchor="t"/>
          <a:lstStyle/>
          <a:p>
            <a:pPr marL="0" indent="0" algn="ctr">
              <a:lnSpc>
                <a:spcPts val="2600"/>
              </a:lnSpc>
              <a:buNone/>
            </a:pPr>
            <a:r>
              <a:rPr lang="en-US" sz="2600" b="1" dirty="0">
                <a:solidFill>
                  <a:srgbClr val="D9E1FF"/>
                </a:solidFill>
                <a:latin typeface="Arial" panose="020B0604020202020204" pitchFamily="34" charset="0"/>
                <a:ea typeface="Syne Bold" pitchFamily="34" charset="-122"/>
                <a:cs typeface="Arial" panose="020B0604020202020204" pitchFamily="34" charset="0"/>
              </a:rPr>
              <a:t>2</a:t>
            </a:r>
            <a:endParaRPr lang="en-US" sz="2600" dirty="0">
              <a:latin typeface="Arial" panose="020B0604020202020204" pitchFamily="34" charset="0"/>
              <a:cs typeface="Arial" panose="020B0604020202020204" pitchFamily="34" charset="0"/>
            </a:endParaRPr>
          </a:p>
        </p:txBody>
      </p:sp>
      <p:sp>
        <p:nvSpPr>
          <p:cNvPr id="12" name="Text 10"/>
          <p:cNvSpPr/>
          <p:nvPr/>
        </p:nvSpPr>
        <p:spPr>
          <a:xfrm>
            <a:off x="4601766" y="4944428"/>
            <a:ext cx="2772489" cy="346591"/>
          </a:xfrm>
          <a:prstGeom prst="rect">
            <a:avLst/>
          </a:prstGeom>
          <a:noFill/>
          <a:ln/>
        </p:spPr>
        <p:txBody>
          <a:bodyPr wrap="none" lIns="0" tIns="0" rIns="0" bIns="0" rtlCol="0" anchor="t"/>
          <a:lstStyle/>
          <a:p>
            <a:pPr marL="0" indent="0" algn="ctr">
              <a:lnSpc>
                <a:spcPts val="2700"/>
              </a:lnSpc>
              <a:buNone/>
            </a:pPr>
            <a:r>
              <a:rPr lang="en-US" sz="2150" b="1" dirty="0">
                <a:solidFill>
                  <a:srgbClr val="D9E1FF"/>
                </a:solidFill>
                <a:latin typeface="Arial" panose="020B0604020202020204" pitchFamily="34" charset="0"/>
                <a:ea typeface="Syne Bold" pitchFamily="34" charset="-122"/>
                <a:cs typeface="Arial" panose="020B0604020202020204" pitchFamily="34" charset="0"/>
              </a:rPr>
              <a:t>Approved</a:t>
            </a:r>
            <a:endParaRPr lang="en-US" sz="2150" dirty="0">
              <a:latin typeface="Arial" panose="020B0604020202020204" pitchFamily="34" charset="0"/>
              <a:cs typeface="Arial" panose="020B0604020202020204" pitchFamily="34" charset="0"/>
            </a:endParaRPr>
          </a:p>
        </p:txBody>
      </p:sp>
      <p:sp>
        <p:nvSpPr>
          <p:cNvPr id="13" name="Text 11"/>
          <p:cNvSpPr/>
          <p:nvPr/>
        </p:nvSpPr>
        <p:spPr>
          <a:xfrm>
            <a:off x="3714512" y="5430203"/>
            <a:ext cx="4547116" cy="747951"/>
          </a:xfrm>
          <a:prstGeom prst="rect">
            <a:avLst/>
          </a:prstGeom>
          <a:noFill/>
          <a:ln/>
        </p:spPr>
        <p:txBody>
          <a:bodyPr wrap="square" lIns="0" tIns="0" rIns="0" bIns="0" rtlCol="0" anchor="t"/>
          <a:lstStyle/>
          <a:p>
            <a:pPr marL="0" indent="0" algn="ctr">
              <a:lnSpc>
                <a:spcPts val="29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Doctor accepts appointment and confirms slot</a:t>
            </a:r>
            <a:endParaRPr lang="en-US" sz="1850" dirty="0">
              <a:latin typeface="Arial" panose="020B0604020202020204" pitchFamily="34" charset="0"/>
              <a:cs typeface="Arial" panose="020B0604020202020204" pitchFamily="34" charset="0"/>
            </a:endParaRPr>
          </a:p>
        </p:txBody>
      </p:sp>
      <p:sp>
        <p:nvSpPr>
          <p:cNvPr id="14" name="Shape 12"/>
          <p:cNvSpPr/>
          <p:nvPr/>
        </p:nvSpPr>
        <p:spPr>
          <a:xfrm>
            <a:off x="8626793" y="3294876"/>
            <a:ext cx="30480" cy="706993"/>
          </a:xfrm>
          <a:prstGeom prst="roundRect">
            <a:avLst>
              <a:gd name="adj" fmla="val 115980"/>
            </a:avLst>
          </a:prstGeom>
          <a:solidFill>
            <a:srgbClr val="44426B"/>
          </a:solidFill>
          <a:ln/>
        </p:spPr>
      </p:sp>
      <p:sp>
        <p:nvSpPr>
          <p:cNvPr id="15" name="Shape 13"/>
          <p:cNvSpPr/>
          <p:nvPr/>
        </p:nvSpPr>
        <p:spPr>
          <a:xfrm>
            <a:off x="8376999" y="3736717"/>
            <a:ext cx="530185" cy="530185"/>
          </a:xfrm>
          <a:prstGeom prst="roundRect">
            <a:avLst>
              <a:gd name="adj" fmla="val 6668"/>
            </a:avLst>
          </a:prstGeom>
          <a:solidFill>
            <a:srgbClr val="2B2952"/>
          </a:solidFill>
          <a:ln/>
        </p:spPr>
      </p:sp>
      <p:sp>
        <p:nvSpPr>
          <p:cNvPr id="16" name="Text 14"/>
          <p:cNvSpPr/>
          <p:nvPr/>
        </p:nvSpPr>
        <p:spPr>
          <a:xfrm>
            <a:off x="8475702" y="3793808"/>
            <a:ext cx="332661" cy="415885"/>
          </a:xfrm>
          <a:prstGeom prst="rect">
            <a:avLst/>
          </a:prstGeom>
          <a:noFill/>
          <a:ln/>
        </p:spPr>
        <p:txBody>
          <a:bodyPr wrap="none" lIns="0" tIns="0" rIns="0" bIns="0" rtlCol="0" anchor="t"/>
          <a:lstStyle/>
          <a:p>
            <a:pPr marL="0" indent="0" algn="ctr">
              <a:lnSpc>
                <a:spcPts val="2600"/>
              </a:lnSpc>
              <a:buNone/>
            </a:pPr>
            <a:r>
              <a:rPr lang="en-US" sz="2600" b="1" dirty="0">
                <a:solidFill>
                  <a:srgbClr val="D9E1FF"/>
                </a:solidFill>
                <a:latin typeface="Arial" panose="020B0604020202020204" pitchFamily="34" charset="0"/>
                <a:ea typeface="Syne Bold" pitchFamily="34" charset="-122"/>
                <a:cs typeface="Arial" panose="020B0604020202020204" pitchFamily="34" charset="0"/>
              </a:rPr>
              <a:t>3</a:t>
            </a:r>
            <a:endParaRPr lang="en-US" sz="2600" dirty="0">
              <a:latin typeface="Arial" panose="020B0604020202020204" pitchFamily="34" charset="0"/>
              <a:cs typeface="Arial" panose="020B0604020202020204" pitchFamily="34" charset="0"/>
            </a:endParaRPr>
          </a:p>
        </p:txBody>
      </p:sp>
      <p:sp>
        <p:nvSpPr>
          <p:cNvPr id="17" name="Text 15"/>
          <p:cNvSpPr/>
          <p:nvPr/>
        </p:nvSpPr>
        <p:spPr>
          <a:xfrm>
            <a:off x="7255907" y="1825466"/>
            <a:ext cx="2772489" cy="346591"/>
          </a:xfrm>
          <a:prstGeom prst="rect">
            <a:avLst/>
          </a:prstGeom>
          <a:noFill/>
          <a:ln/>
        </p:spPr>
        <p:txBody>
          <a:bodyPr wrap="none" lIns="0" tIns="0" rIns="0" bIns="0" rtlCol="0" anchor="t"/>
          <a:lstStyle/>
          <a:p>
            <a:pPr marL="0" indent="0" algn="ctr">
              <a:lnSpc>
                <a:spcPts val="2700"/>
              </a:lnSpc>
              <a:buNone/>
            </a:pPr>
            <a:r>
              <a:rPr lang="en-US" sz="2150" b="1" dirty="0">
                <a:solidFill>
                  <a:srgbClr val="D9E1FF"/>
                </a:solidFill>
                <a:latin typeface="Arial" panose="020B0604020202020204" pitchFamily="34" charset="0"/>
                <a:ea typeface="Syne Bold" pitchFamily="34" charset="-122"/>
                <a:cs typeface="Arial" panose="020B0604020202020204" pitchFamily="34" charset="0"/>
              </a:rPr>
              <a:t>Completed</a:t>
            </a:r>
            <a:endParaRPr lang="en-US" sz="2150" dirty="0">
              <a:latin typeface="Arial" panose="020B0604020202020204" pitchFamily="34" charset="0"/>
              <a:cs typeface="Arial" panose="020B0604020202020204" pitchFamily="34" charset="0"/>
            </a:endParaRPr>
          </a:p>
        </p:txBody>
      </p:sp>
      <p:sp>
        <p:nvSpPr>
          <p:cNvPr id="18" name="Text 16"/>
          <p:cNvSpPr/>
          <p:nvPr/>
        </p:nvSpPr>
        <p:spPr>
          <a:xfrm>
            <a:off x="6368653" y="2311241"/>
            <a:ext cx="4547116" cy="373975"/>
          </a:xfrm>
          <a:prstGeom prst="rect">
            <a:avLst/>
          </a:prstGeom>
          <a:noFill/>
          <a:ln/>
        </p:spPr>
        <p:txBody>
          <a:bodyPr wrap="none" lIns="0" tIns="0" rIns="0" bIns="0" rtlCol="0" anchor="t"/>
          <a:lstStyle/>
          <a:p>
            <a:pPr marL="0" indent="0" algn="ctr">
              <a:lnSpc>
                <a:spcPts val="29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Consultation finished and record closed</a:t>
            </a:r>
            <a:endParaRPr lang="en-US" sz="1850" dirty="0">
              <a:latin typeface="Arial" panose="020B0604020202020204" pitchFamily="34" charset="0"/>
              <a:cs typeface="Arial" panose="020B0604020202020204" pitchFamily="34" charset="0"/>
            </a:endParaRPr>
          </a:p>
        </p:txBody>
      </p:sp>
      <p:sp>
        <p:nvSpPr>
          <p:cNvPr id="19" name="Shape 17"/>
          <p:cNvSpPr/>
          <p:nvPr/>
        </p:nvSpPr>
        <p:spPr>
          <a:xfrm>
            <a:off x="11280934" y="4001750"/>
            <a:ext cx="30480" cy="706993"/>
          </a:xfrm>
          <a:prstGeom prst="roundRect">
            <a:avLst>
              <a:gd name="adj" fmla="val 115980"/>
            </a:avLst>
          </a:prstGeom>
          <a:solidFill>
            <a:srgbClr val="44426B"/>
          </a:solidFill>
          <a:ln/>
        </p:spPr>
      </p:sp>
      <p:sp>
        <p:nvSpPr>
          <p:cNvPr id="20" name="Shape 18"/>
          <p:cNvSpPr/>
          <p:nvPr/>
        </p:nvSpPr>
        <p:spPr>
          <a:xfrm>
            <a:off x="11031141" y="3736717"/>
            <a:ext cx="530185" cy="530185"/>
          </a:xfrm>
          <a:prstGeom prst="roundRect">
            <a:avLst>
              <a:gd name="adj" fmla="val 6668"/>
            </a:avLst>
          </a:prstGeom>
          <a:solidFill>
            <a:srgbClr val="2B2952"/>
          </a:solidFill>
          <a:ln/>
        </p:spPr>
      </p:sp>
      <p:sp>
        <p:nvSpPr>
          <p:cNvPr id="21" name="Text 19"/>
          <p:cNvSpPr/>
          <p:nvPr/>
        </p:nvSpPr>
        <p:spPr>
          <a:xfrm>
            <a:off x="11129843" y="3793808"/>
            <a:ext cx="332661" cy="415885"/>
          </a:xfrm>
          <a:prstGeom prst="rect">
            <a:avLst/>
          </a:prstGeom>
          <a:noFill/>
          <a:ln/>
        </p:spPr>
        <p:txBody>
          <a:bodyPr wrap="none" lIns="0" tIns="0" rIns="0" bIns="0" rtlCol="0" anchor="t"/>
          <a:lstStyle/>
          <a:p>
            <a:pPr marL="0" indent="0" algn="ctr">
              <a:lnSpc>
                <a:spcPts val="2600"/>
              </a:lnSpc>
              <a:buNone/>
            </a:pPr>
            <a:r>
              <a:rPr lang="en-US" sz="2600" b="1" dirty="0">
                <a:solidFill>
                  <a:srgbClr val="D9E1FF"/>
                </a:solidFill>
                <a:latin typeface="Arial" panose="020B0604020202020204" pitchFamily="34" charset="0"/>
                <a:ea typeface="Syne Bold" pitchFamily="34" charset="-122"/>
                <a:cs typeface="Arial" panose="020B0604020202020204" pitchFamily="34" charset="0"/>
              </a:rPr>
              <a:t>4</a:t>
            </a:r>
            <a:endParaRPr lang="en-US" sz="2600" dirty="0">
              <a:latin typeface="Arial" panose="020B0604020202020204" pitchFamily="34" charset="0"/>
              <a:cs typeface="Arial" panose="020B0604020202020204" pitchFamily="34" charset="0"/>
            </a:endParaRPr>
          </a:p>
        </p:txBody>
      </p:sp>
      <p:sp>
        <p:nvSpPr>
          <p:cNvPr id="22" name="Text 20"/>
          <p:cNvSpPr/>
          <p:nvPr/>
        </p:nvSpPr>
        <p:spPr>
          <a:xfrm>
            <a:off x="9910048" y="4944428"/>
            <a:ext cx="2772489" cy="346591"/>
          </a:xfrm>
          <a:prstGeom prst="rect">
            <a:avLst/>
          </a:prstGeom>
          <a:noFill/>
          <a:ln/>
        </p:spPr>
        <p:txBody>
          <a:bodyPr wrap="none" lIns="0" tIns="0" rIns="0" bIns="0" rtlCol="0" anchor="t"/>
          <a:lstStyle/>
          <a:p>
            <a:pPr marL="0" indent="0" algn="ctr">
              <a:lnSpc>
                <a:spcPts val="2700"/>
              </a:lnSpc>
              <a:buNone/>
            </a:pPr>
            <a:r>
              <a:rPr lang="en-US" sz="2150" b="1" dirty="0">
                <a:solidFill>
                  <a:srgbClr val="D9E1FF"/>
                </a:solidFill>
                <a:latin typeface="Arial" panose="020B0604020202020204" pitchFamily="34" charset="0"/>
                <a:ea typeface="Syne Bold" pitchFamily="34" charset="-122"/>
                <a:cs typeface="Arial" panose="020B0604020202020204" pitchFamily="34" charset="0"/>
              </a:rPr>
              <a:t>Cancelled</a:t>
            </a:r>
            <a:endParaRPr lang="en-US" sz="2150" dirty="0">
              <a:latin typeface="Arial" panose="020B0604020202020204" pitchFamily="34" charset="0"/>
              <a:cs typeface="Arial" panose="020B0604020202020204" pitchFamily="34" charset="0"/>
            </a:endParaRPr>
          </a:p>
        </p:txBody>
      </p:sp>
      <p:sp>
        <p:nvSpPr>
          <p:cNvPr id="23" name="Text 21"/>
          <p:cNvSpPr/>
          <p:nvPr/>
        </p:nvSpPr>
        <p:spPr>
          <a:xfrm>
            <a:off x="9022794" y="5430203"/>
            <a:ext cx="4547116" cy="373975"/>
          </a:xfrm>
          <a:prstGeom prst="rect">
            <a:avLst/>
          </a:prstGeom>
          <a:noFill/>
          <a:ln/>
        </p:spPr>
        <p:txBody>
          <a:bodyPr wrap="none" lIns="0" tIns="0" rIns="0" bIns="0" rtlCol="0" anchor="t"/>
          <a:lstStyle/>
          <a:p>
            <a:pPr marL="0" indent="0" algn="ctr">
              <a:lnSpc>
                <a:spcPts val="29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Appointment rejected or rescheduled</a:t>
            </a:r>
            <a:endParaRPr lang="en-US" sz="1850" dirty="0">
              <a:latin typeface="Arial" panose="020B0604020202020204" pitchFamily="34" charset="0"/>
              <a:cs typeface="Arial" panose="020B0604020202020204" pitchFamily="34" charset="0"/>
            </a:endParaRPr>
          </a:p>
        </p:txBody>
      </p:sp>
      <p:sp>
        <p:nvSpPr>
          <p:cNvPr id="24" name="Text 22"/>
          <p:cNvSpPr/>
          <p:nvPr/>
        </p:nvSpPr>
        <p:spPr>
          <a:xfrm>
            <a:off x="824746" y="6439138"/>
            <a:ext cx="12980908" cy="1121926"/>
          </a:xfrm>
          <a:prstGeom prst="rect">
            <a:avLst/>
          </a:prstGeom>
          <a:noFill/>
          <a:ln/>
        </p:spPr>
        <p:txBody>
          <a:bodyPr wrap="square" lIns="0" tIns="0" rIns="0" bIns="0" rtlCol="0" anchor="t"/>
          <a:lstStyle/>
          <a:p>
            <a:pPr marL="0" indent="0" algn="l">
              <a:lnSpc>
                <a:spcPts val="2900"/>
              </a:lnSpc>
              <a:buNone/>
            </a:pPr>
            <a:endParaRPr lang="en-US" sz="1850" dirty="0">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F97011DF-97DA-6609-CF8E-DD11AE16F265}"/>
              </a:ext>
            </a:extLst>
          </p:cNvPr>
          <p:cNvPicPr>
            <a:picLocks noChangeAspect="1"/>
          </p:cNvPicPr>
          <p:nvPr/>
        </p:nvPicPr>
        <p:blipFill>
          <a:blip r:embed="rId3"/>
          <a:stretch>
            <a:fillRect/>
          </a:stretch>
        </p:blipFill>
        <p:spPr>
          <a:xfrm>
            <a:off x="12894198" y="7743920"/>
            <a:ext cx="1641832" cy="4856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667107"/>
            <a:ext cx="6916341" cy="704017"/>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Arial" panose="020B0604020202020204" pitchFamily="34" charset="0"/>
                <a:ea typeface="Syne Bold" pitchFamily="34" charset="-122"/>
                <a:cs typeface="Arial" panose="020B0604020202020204" pitchFamily="34" charset="0"/>
              </a:rPr>
              <a:t>Future Enhancements</a:t>
            </a:r>
            <a:endParaRPr lang="en-US" sz="4400" dirty="0">
              <a:latin typeface="Arial" panose="020B0604020202020204" pitchFamily="34" charset="0"/>
              <a:cs typeface="Arial" panose="020B0604020202020204" pitchFamily="34" charset="0"/>
            </a:endParaRPr>
          </a:p>
        </p:txBody>
      </p:sp>
      <p:sp>
        <p:nvSpPr>
          <p:cNvPr id="3" name="Shape 1"/>
          <p:cNvSpPr/>
          <p:nvPr/>
        </p:nvSpPr>
        <p:spPr>
          <a:xfrm>
            <a:off x="1196697" y="2807256"/>
            <a:ext cx="3799642" cy="239316"/>
          </a:xfrm>
          <a:prstGeom prst="roundRect">
            <a:avLst>
              <a:gd name="adj" fmla="val 15004"/>
            </a:avLst>
          </a:prstGeom>
          <a:solidFill>
            <a:srgbClr val="2B2952"/>
          </a:solidFill>
          <a:ln/>
        </p:spPr>
      </p:sp>
      <p:sp>
        <p:nvSpPr>
          <p:cNvPr id="4" name="Shape 2"/>
          <p:cNvSpPr/>
          <p:nvPr/>
        </p:nvSpPr>
        <p:spPr>
          <a:xfrm>
            <a:off x="837724" y="2567880"/>
            <a:ext cx="718066" cy="718066"/>
          </a:xfrm>
          <a:prstGeom prst="roundRect">
            <a:avLst>
              <a:gd name="adj" fmla="val 63671"/>
            </a:avLst>
          </a:prstGeom>
          <a:solidFill>
            <a:srgbClr val="2B2952"/>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7270" y="2747427"/>
            <a:ext cx="358973" cy="358973"/>
          </a:xfrm>
          <a:prstGeom prst="rect">
            <a:avLst/>
          </a:prstGeom>
        </p:spPr>
      </p:pic>
      <p:sp>
        <p:nvSpPr>
          <p:cNvPr id="6" name="Text 3"/>
          <p:cNvSpPr/>
          <p:nvPr/>
        </p:nvSpPr>
        <p:spPr>
          <a:xfrm>
            <a:off x="1077039" y="3525322"/>
            <a:ext cx="3680103" cy="703898"/>
          </a:xfrm>
          <a:prstGeom prst="rect">
            <a:avLst/>
          </a:prstGeom>
          <a:noFill/>
          <a:ln/>
        </p:spPr>
        <p:txBody>
          <a:bodyPr wrap="squar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Automated Notifications</a:t>
            </a:r>
            <a:endParaRPr lang="en-US" sz="2200" dirty="0">
              <a:latin typeface="Arial" panose="020B0604020202020204" pitchFamily="34" charset="0"/>
              <a:cs typeface="Arial" panose="020B0604020202020204" pitchFamily="34" charset="0"/>
            </a:endParaRPr>
          </a:p>
        </p:txBody>
      </p:sp>
      <p:sp>
        <p:nvSpPr>
          <p:cNvPr id="7" name="Text 4"/>
          <p:cNvSpPr/>
          <p:nvPr/>
        </p:nvSpPr>
        <p:spPr>
          <a:xfrm>
            <a:off x="1077039" y="4372808"/>
            <a:ext cx="3680103"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Email and SMS alerts for appointment status changes, reminders, and follow-ups to improve patient engagement.</a:t>
            </a:r>
            <a:endParaRPr lang="en-US" sz="1850" dirty="0">
              <a:latin typeface="Arial" panose="020B0604020202020204" pitchFamily="34" charset="0"/>
              <a:cs typeface="Arial" panose="020B0604020202020204" pitchFamily="34" charset="0"/>
            </a:endParaRPr>
          </a:p>
        </p:txBody>
      </p:sp>
      <p:sp>
        <p:nvSpPr>
          <p:cNvPr id="8" name="Shape 5"/>
          <p:cNvSpPr/>
          <p:nvPr/>
        </p:nvSpPr>
        <p:spPr>
          <a:xfrm>
            <a:off x="5594747" y="2448163"/>
            <a:ext cx="3799642" cy="239316"/>
          </a:xfrm>
          <a:prstGeom prst="roundRect">
            <a:avLst>
              <a:gd name="adj" fmla="val 15004"/>
            </a:avLst>
          </a:prstGeom>
          <a:solidFill>
            <a:srgbClr val="2B2952"/>
          </a:solidFill>
          <a:ln/>
        </p:spPr>
      </p:sp>
      <p:sp>
        <p:nvSpPr>
          <p:cNvPr id="9" name="Shape 6"/>
          <p:cNvSpPr/>
          <p:nvPr/>
        </p:nvSpPr>
        <p:spPr>
          <a:xfrm>
            <a:off x="5235773" y="2208788"/>
            <a:ext cx="718066" cy="718066"/>
          </a:xfrm>
          <a:prstGeom prst="roundRect">
            <a:avLst>
              <a:gd name="adj" fmla="val 63671"/>
            </a:avLst>
          </a:prstGeom>
          <a:solidFill>
            <a:srgbClr val="2B2952"/>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5320" y="2388334"/>
            <a:ext cx="358973" cy="358973"/>
          </a:xfrm>
          <a:prstGeom prst="rect">
            <a:avLst/>
          </a:prstGeom>
        </p:spPr>
      </p:pic>
      <p:sp>
        <p:nvSpPr>
          <p:cNvPr id="11" name="Text 7"/>
          <p:cNvSpPr/>
          <p:nvPr/>
        </p:nvSpPr>
        <p:spPr>
          <a:xfrm>
            <a:off x="5475089" y="3166229"/>
            <a:ext cx="2816185"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Patient Accounts</a:t>
            </a:r>
            <a:endParaRPr lang="en-US" sz="2200" dirty="0">
              <a:latin typeface="Arial" panose="020B0604020202020204" pitchFamily="34" charset="0"/>
              <a:cs typeface="Arial" panose="020B0604020202020204" pitchFamily="34" charset="0"/>
            </a:endParaRPr>
          </a:p>
        </p:txBody>
      </p:sp>
      <p:sp>
        <p:nvSpPr>
          <p:cNvPr id="12" name="Text 8"/>
          <p:cNvSpPr/>
          <p:nvPr/>
        </p:nvSpPr>
        <p:spPr>
          <a:xfrm>
            <a:off x="5475089" y="3661767"/>
            <a:ext cx="3680103"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Personal login portals allowing patients to view appointment history, manage bookings, and access medical records securely.</a:t>
            </a:r>
            <a:endParaRPr lang="en-US" sz="1850" dirty="0">
              <a:latin typeface="Arial" panose="020B0604020202020204" pitchFamily="34" charset="0"/>
              <a:cs typeface="Arial" panose="020B0604020202020204" pitchFamily="34" charset="0"/>
            </a:endParaRPr>
          </a:p>
        </p:txBody>
      </p:sp>
      <p:sp>
        <p:nvSpPr>
          <p:cNvPr id="13" name="Shape 9"/>
          <p:cNvSpPr/>
          <p:nvPr/>
        </p:nvSpPr>
        <p:spPr>
          <a:xfrm>
            <a:off x="9992797" y="2089190"/>
            <a:ext cx="3799761" cy="239316"/>
          </a:xfrm>
          <a:prstGeom prst="roundRect">
            <a:avLst>
              <a:gd name="adj" fmla="val 15004"/>
            </a:avLst>
          </a:prstGeom>
          <a:solidFill>
            <a:srgbClr val="2B2952"/>
          </a:solidFill>
          <a:ln/>
        </p:spPr>
      </p:sp>
      <p:sp>
        <p:nvSpPr>
          <p:cNvPr id="14" name="Shape 10"/>
          <p:cNvSpPr/>
          <p:nvPr/>
        </p:nvSpPr>
        <p:spPr>
          <a:xfrm>
            <a:off x="9633823" y="1849815"/>
            <a:ext cx="718066" cy="718066"/>
          </a:xfrm>
          <a:prstGeom prst="roundRect">
            <a:avLst>
              <a:gd name="adj" fmla="val 63671"/>
            </a:avLst>
          </a:prstGeom>
          <a:solidFill>
            <a:srgbClr val="2B2952"/>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3369" y="2029361"/>
            <a:ext cx="358973" cy="358973"/>
          </a:xfrm>
          <a:prstGeom prst="rect">
            <a:avLst/>
          </a:prstGeom>
        </p:spPr>
      </p:pic>
      <p:sp>
        <p:nvSpPr>
          <p:cNvPr id="16" name="Text 11"/>
          <p:cNvSpPr/>
          <p:nvPr/>
        </p:nvSpPr>
        <p:spPr>
          <a:xfrm>
            <a:off x="9873139" y="2807256"/>
            <a:ext cx="3185636" cy="351949"/>
          </a:xfrm>
          <a:prstGeom prst="rect">
            <a:avLst/>
          </a:prstGeom>
          <a:noFill/>
          <a:ln/>
        </p:spPr>
        <p:txBody>
          <a:bodyPr wrap="none" lIns="0" tIns="0" rIns="0" bIns="0" rtlCol="0" anchor="t"/>
          <a:lstStyle/>
          <a:p>
            <a:pPr marL="0" indent="0" algn="l">
              <a:lnSpc>
                <a:spcPts val="2750"/>
              </a:lnSpc>
              <a:buNone/>
            </a:pPr>
            <a:r>
              <a:rPr lang="en-US" sz="2200" b="1" dirty="0">
                <a:solidFill>
                  <a:srgbClr val="D9E1FF"/>
                </a:solidFill>
                <a:latin typeface="Arial" panose="020B0604020202020204" pitchFamily="34" charset="0"/>
                <a:ea typeface="Syne Bold" pitchFamily="34" charset="-122"/>
                <a:cs typeface="Arial" panose="020B0604020202020204" pitchFamily="34" charset="0"/>
              </a:rPr>
              <a:t>Payment Integration</a:t>
            </a:r>
            <a:endParaRPr lang="en-US" sz="2200" dirty="0">
              <a:latin typeface="Arial" panose="020B0604020202020204" pitchFamily="34" charset="0"/>
              <a:cs typeface="Arial" panose="020B0604020202020204" pitchFamily="34" charset="0"/>
            </a:endParaRPr>
          </a:p>
        </p:txBody>
      </p:sp>
      <p:sp>
        <p:nvSpPr>
          <p:cNvPr id="17" name="Text 12"/>
          <p:cNvSpPr/>
          <p:nvPr/>
        </p:nvSpPr>
        <p:spPr>
          <a:xfrm>
            <a:off x="9873139" y="3302794"/>
            <a:ext cx="3680222"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Secure payment gateway for appointment fees, consultation charges, and online billing with multiple payment options.</a:t>
            </a:r>
            <a:endParaRPr lang="en-US" sz="1850" dirty="0">
              <a:latin typeface="Arial" panose="020B0604020202020204" pitchFamily="34" charset="0"/>
              <a:cs typeface="Arial" panose="020B0604020202020204" pitchFamily="34" charset="0"/>
            </a:endParaRPr>
          </a:p>
        </p:txBody>
      </p:sp>
      <p:sp>
        <p:nvSpPr>
          <p:cNvPr id="18" name="Text 13"/>
          <p:cNvSpPr/>
          <p:nvPr/>
        </p:nvSpPr>
        <p:spPr>
          <a:xfrm>
            <a:off x="837724" y="6413421"/>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Arial" panose="020B0604020202020204" pitchFamily="34" charset="0"/>
                <a:ea typeface="Arimo" pitchFamily="34" charset="-122"/>
                <a:cs typeface="Arial" panose="020B0604020202020204" pitchFamily="34" charset="0"/>
              </a:rPr>
              <a:t>This project successfully digitizes medical appointments, providing a scalable foundation for modern healthcare systems. The combination of responsive design, secure authentication, and intelligent data management creates an accessible platform that improves healthcare access for patients and streamlines operations for medical professionals.</a:t>
            </a:r>
            <a:endParaRPr lang="en-US" sz="1850"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33B7076B-D569-DAB0-4071-D6E7B343B97E}"/>
              </a:ext>
            </a:extLst>
          </p:cNvPr>
          <p:cNvPicPr>
            <a:picLocks noChangeAspect="1"/>
          </p:cNvPicPr>
          <p:nvPr/>
        </p:nvPicPr>
        <p:blipFill>
          <a:blip r:embed="rId6"/>
          <a:stretch>
            <a:fillRect/>
          </a:stretch>
        </p:blipFill>
        <p:spPr>
          <a:xfrm>
            <a:off x="12894198" y="7743920"/>
            <a:ext cx="1641832" cy="485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CDE7E7-3831-A112-53F2-A2FAAC38EA68}"/>
              </a:ext>
            </a:extLst>
          </p:cNvPr>
          <p:cNvPicPr>
            <a:picLocks noChangeAspect="1"/>
          </p:cNvPicPr>
          <p:nvPr/>
        </p:nvPicPr>
        <p:blipFill>
          <a:blip r:embed="rId2"/>
          <a:stretch>
            <a:fillRect/>
          </a:stretch>
        </p:blipFill>
        <p:spPr>
          <a:xfrm>
            <a:off x="12639554" y="7639291"/>
            <a:ext cx="1990846" cy="590309"/>
          </a:xfrm>
          <a:prstGeom prst="rect">
            <a:avLst/>
          </a:prstGeom>
        </p:spPr>
      </p:pic>
      <p:sp>
        <p:nvSpPr>
          <p:cNvPr id="4" name="Rectangle 3">
            <a:extLst>
              <a:ext uri="{FF2B5EF4-FFF2-40B4-BE49-F238E27FC236}">
                <a16:creationId xmlns:a16="http://schemas.microsoft.com/office/drawing/2014/main" id="{D27060AD-84F4-D141-5712-1B75DF79C743}"/>
              </a:ext>
            </a:extLst>
          </p:cNvPr>
          <p:cNvSpPr/>
          <p:nvPr/>
        </p:nvSpPr>
        <p:spPr>
          <a:xfrm>
            <a:off x="5462612" y="3653135"/>
            <a:ext cx="3705181" cy="923330"/>
          </a:xfrm>
          <a:prstGeom prst="rect">
            <a:avLst/>
          </a:prstGeom>
          <a:noFill/>
        </p:spPr>
        <p:txBody>
          <a:bodyPr wrap="none" lIns="91440" tIns="45720" rIns="91440" bIns="45720">
            <a:spAutoFit/>
          </a:bodyPr>
          <a:lstStyle/>
          <a:p>
            <a:pPr algn="ctr"/>
            <a:r>
              <a:rPr lang="en-US" sz="5400" b="1" spc="50" dirty="0">
                <a:ln w="0"/>
                <a:solidFill>
                  <a:schemeClr val="bg2"/>
                </a:solidFill>
                <a:effectLst>
                  <a:innerShdw blurRad="63500" dist="50800" dir="13500000">
                    <a:srgbClr val="000000">
                      <a:alpha val="50000"/>
                    </a:srgbClr>
                  </a:innerShdw>
                </a:effectLst>
              </a:rPr>
              <a:t>Thank You…</a:t>
            </a:r>
          </a:p>
        </p:txBody>
      </p:sp>
    </p:spTree>
    <p:extLst>
      <p:ext uri="{BB962C8B-B14F-4D97-AF65-F5344CB8AC3E}">
        <p14:creationId xmlns:p14="http://schemas.microsoft.com/office/powerpoint/2010/main" val="3684245170"/>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TotalTime>
  <Words>1002</Words>
  <Application>Microsoft Office PowerPoint</Application>
  <PresentationFormat>Custom</PresentationFormat>
  <Paragraphs>159</Paragraphs>
  <Slides>12</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Jay Patel</dc:creator>
  <cp:lastModifiedBy>Jay Patel</cp:lastModifiedBy>
  <cp:revision>8</cp:revision>
  <dcterms:created xsi:type="dcterms:W3CDTF">2026-03-21T16:27:22Z</dcterms:created>
  <dcterms:modified xsi:type="dcterms:W3CDTF">2026-03-31T09:35:15Z</dcterms:modified>
</cp:coreProperties>
</file>